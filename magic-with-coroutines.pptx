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486" r:id="rId4"/>
    <p:sldId id="258" r:id="rId5"/>
    <p:sldId id="265" r:id="rId6"/>
    <p:sldId id="475" r:id="rId7"/>
    <p:sldId id="476" r:id="rId8"/>
    <p:sldId id="474" r:id="rId9"/>
    <p:sldId id="485" r:id="rId10"/>
    <p:sldId id="259" r:id="rId11"/>
    <p:sldId id="488" r:id="rId12"/>
    <p:sldId id="266" r:id="rId13"/>
    <p:sldId id="477" r:id="rId14"/>
    <p:sldId id="479" r:id="rId15"/>
    <p:sldId id="489" r:id="rId16"/>
    <p:sldId id="260" r:id="rId17"/>
    <p:sldId id="267" r:id="rId18"/>
    <p:sldId id="478" r:id="rId19"/>
    <p:sldId id="490" r:id="rId20"/>
    <p:sldId id="492" r:id="rId21"/>
    <p:sldId id="491" r:id="rId22"/>
    <p:sldId id="493" r:id="rId23"/>
    <p:sldId id="268" r:id="rId24"/>
    <p:sldId id="480" r:id="rId25"/>
    <p:sldId id="262" r:id="rId26"/>
    <p:sldId id="494" r:id="rId27"/>
    <p:sldId id="269" r:id="rId28"/>
    <p:sldId id="273" r:id="rId29"/>
    <p:sldId id="495" r:id="rId30"/>
    <p:sldId id="496" r:id="rId31"/>
    <p:sldId id="497" r:id="rId32"/>
    <p:sldId id="498" r:id="rId33"/>
    <p:sldId id="500" r:id="rId34"/>
    <p:sldId id="473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660" autoAdjust="0"/>
  </p:normalViewPr>
  <p:slideViewPr>
    <p:cSldViewPr>
      <p:cViewPr>
        <p:scale>
          <a:sx n="75" d="100"/>
          <a:sy n="75" d="100"/>
        </p:scale>
        <p:origin x="888" y="35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960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4CE6AF-D938-7C85-3949-7D2A7663097B}"/>
              </a:ext>
            </a:extLst>
          </p:cNvPr>
          <p:cNvSpPr/>
          <p:nvPr userDrawn="1"/>
        </p:nvSpPr>
        <p:spPr>
          <a:xfrm flipV="1">
            <a:off x="457200" y="1324294"/>
            <a:ext cx="82296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30000">
                <a:srgbClr val="0070C0"/>
              </a:gs>
              <a:gs pos="6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21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57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56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76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36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8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3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9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66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3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25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Code review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Five different </a:t>
            </a:r>
            <a:r>
              <a:rPr dirty="0">
                <a:solidFill>
                  <a:srgbClr val="0070C0"/>
                </a:solidFill>
              </a:rPr>
              <a:t>problems </a:t>
            </a:r>
            <a:r>
              <a:rPr lang="en-US" dirty="0">
                <a:solidFill>
                  <a:srgbClr val="0070C0"/>
                </a:solidFill>
              </a:rPr>
              <a:t>- with complex solutions.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The benefits of coroutines in each case</a:t>
            </a:r>
          </a:p>
          <a:p>
            <a:r>
              <a:rPr lang="en-US" dirty="0">
                <a:solidFill>
                  <a:srgbClr val="0070C0"/>
                </a:solidFill>
              </a:rPr>
              <a:t>What is a coroutine?</a:t>
            </a:r>
            <a:endParaRPr dirty="0">
              <a:solidFill>
                <a:srgbClr val="0070C0"/>
              </a:solidFill>
            </a:endParaRPr>
          </a:p>
          <a:p>
            <a:r>
              <a:rPr dirty="0">
                <a:solidFill>
                  <a:srgbClr val="0070C0"/>
                </a:solidFill>
              </a:rPr>
              <a:t>How C++ </a:t>
            </a:r>
            <a:r>
              <a:rPr lang="en-US" dirty="0">
                <a:solidFill>
                  <a:srgbClr val="0070C0"/>
                </a:solidFill>
              </a:rPr>
              <a:t>implements</a:t>
            </a:r>
            <a:r>
              <a:rPr dirty="0">
                <a:solidFill>
                  <a:srgbClr val="0070C0"/>
                </a:solidFill>
              </a:rPr>
              <a:t> the coroutine pattern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Applying coroutines to each problem</a:t>
            </a:r>
          </a:p>
          <a:p>
            <a:r>
              <a:rPr lang="en-US" dirty="0">
                <a:solidFill>
                  <a:srgbClr val="0070C0"/>
                </a:solidFill>
              </a:rPr>
              <a:t>A little implementation detail – but not much</a:t>
            </a:r>
          </a:p>
          <a:p>
            <a:r>
              <a:rPr lang="en-US" dirty="0">
                <a:solidFill>
                  <a:srgbClr val="0070C0"/>
                </a:solidFill>
              </a:rPr>
              <a:t>Best practices in development with coroutines</a:t>
            </a:r>
            <a:endParaRPr dirty="0">
              <a:solidFill>
                <a:srgbClr val="0070C0"/>
              </a:solidFill>
            </a:endParaRPr>
          </a:p>
          <a:p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Overview </a:t>
            </a:r>
            <a:r>
              <a:rPr lang="en-US"/>
              <a:t>of the repo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B064CA-E101-3720-80D1-9E725E11E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5 solutions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Without coroutines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With coroutines</a:t>
            </a:r>
          </a:p>
          <a:p>
            <a:r>
              <a:rPr lang="en-US" dirty="0">
                <a:solidFill>
                  <a:schemeClr val="accent1"/>
                </a:solidFill>
              </a:rPr>
              <a:t>Tests for both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3DA9ED-E5B9-0FBF-A8F0-EE731F518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371600"/>
            <a:ext cx="4191000" cy="52299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382AB-2D90-1164-2BB8-1F8EAE950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6B38-AFB8-F7FE-E85A-66256003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1. The Generator Problem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03D932D-8762-29B3-A62B-3ED13132A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Produces a sequence of values lazily.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Values are generated only when requested.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Preserves internal state between requests.</a:t>
            </a:r>
          </a:p>
          <a:p>
            <a:r>
              <a:rPr lang="en-US" dirty="0">
                <a:solidFill>
                  <a:srgbClr val="0070C0"/>
                </a:solidFill>
              </a:rPr>
              <a:t>Elements do not need to be stored in memory.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The sequence may be finite or infinite.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Efficient processing of large or streaming data.</a:t>
            </a:r>
          </a:p>
        </p:txBody>
      </p:sp>
    </p:spTree>
    <p:extLst>
      <p:ext uri="{BB962C8B-B14F-4D97-AF65-F5344CB8AC3E}">
        <p14:creationId xmlns:p14="http://schemas.microsoft.com/office/powerpoint/2010/main" val="3749631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3"/>
                </a:solidFill>
              </a:rPr>
              <a:t>Generator</a:t>
            </a:r>
            <a:r>
              <a:rPr lang="en-US" dirty="0">
                <a:solidFill>
                  <a:schemeClr val="accent3"/>
                </a:solidFill>
              </a:rPr>
              <a:t>s </a:t>
            </a:r>
            <a:r>
              <a:rPr lang="en-US" dirty="0"/>
              <a:t>without coroutines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rgbClr val="0070C0"/>
                </a:solidFill>
              </a:rPr>
              <a:t>Fibonacci 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</a:rPr>
              <a:t>N</a:t>
            </a:r>
            <a:r>
              <a:rPr dirty="0">
                <a:solidFill>
                  <a:srgbClr val="0070C0"/>
                </a:solidFill>
              </a:rPr>
              <a:t>eeds </a:t>
            </a:r>
            <a:r>
              <a:rPr lang="en-US" dirty="0">
                <a:solidFill>
                  <a:srgbClr val="0070C0"/>
                </a:solidFill>
              </a:rPr>
              <a:t>5 state </a:t>
            </a:r>
            <a:r>
              <a:rPr dirty="0">
                <a:solidFill>
                  <a:srgbClr val="0070C0"/>
                </a:solidFill>
              </a:rPr>
              <a:t>fields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Requires a hand-written state machine</a:t>
            </a:r>
          </a:p>
          <a:p>
            <a:r>
              <a:rPr dirty="0">
                <a:solidFill>
                  <a:srgbClr val="0070C0"/>
                </a:solidFill>
              </a:rPr>
              <a:t>Tree DFS 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dirty="0" err="1">
                <a:solidFill>
                  <a:srgbClr val="0070C0"/>
                </a:solidFill>
              </a:rPr>
              <a:t>inorder</a:t>
            </a:r>
            <a:r>
              <a:rPr lang="en-US" dirty="0">
                <a:solidFill>
                  <a:srgbClr val="0070C0"/>
                </a:solidFill>
              </a:rPr>
              <a:t> and preorder)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N</a:t>
            </a:r>
            <a:r>
              <a:rPr dirty="0">
                <a:solidFill>
                  <a:srgbClr val="0070C0"/>
                </a:solidFill>
              </a:rPr>
              <a:t>eeds </a:t>
            </a:r>
            <a:r>
              <a:rPr lang="en-US" dirty="0">
                <a:solidFill>
                  <a:srgbClr val="0070C0"/>
                </a:solidFill>
              </a:rPr>
              <a:t>a </a:t>
            </a:r>
            <a:r>
              <a:rPr dirty="0">
                <a:solidFill>
                  <a:srgbClr val="0070C0"/>
                </a:solidFill>
              </a:rPr>
              <a:t>stack, backtracking, and </a:t>
            </a:r>
            <a:r>
              <a:rPr lang="en-US" dirty="0">
                <a:solidFill>
                  <a:srgbClr val="0070C0"/>
                </a:solidFill>
              </a:rPr>
              <a:t>a state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Code is long or split across multiple handlers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Fibonacci</a:t>
            </a:r>
            <a:r>
              <a:rPr lang="en-US" dirty="0"/>
              <a:t> with coroutines 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6690C4-5CF6-AA5A-EE46-E72705CBD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391400" cy="4567044"/>
          </a:xfrm>
          <a:prstGeom prst="rect">
            <a:avLst/>
          </a:prstGeom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E0DA1-30B5-9A4A-D207-B81004854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5586E-DFF7-91EC-D30E-3511B35D8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Tree traversal</a:t>
            </a:r>
            <a:r>
              <a:rPr lang="en-US" dirty="0"/>
              <a:t> with coroutines 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ED5821-0407-BC16-B6F8-7312ED801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1"/>
            <a:ext cx="6096000" cy="49305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185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C2121-FDC6-A2D1-78C4-B1BB5FCC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7782-BE6E-C4AC-1116-23B8F8729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Tree traversal</a:t>
            </a:r>
            <a:r>
              <a:rPr lang="en-US" dirty="0"/>
              <a:t> with coroutines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BA3CDA-11B8-9173-58B9-644854EE6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1"/>
            <a:ext cx="7168705" cy="487679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5225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CA93A-7ADD-F0F9-0EC2-9B57D0238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66E85-F145-D2E9-19B4-46540F37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Command Protocol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CBCA7-A865-FCBB-2197-F451AF8EC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Line-oriented key/value protocol with two commands:</a:t>
            </a:r>
            <a:br>
              <a:rPr lang="en-US" dirty="0"/>
            </a:br>
            <a:endParaRPr lang="en-US" dirty="0"/>
          </a:p>
          <a:p>
            <a:r>
              <a:rPr lang="en-US" dirty="0"/>
              <a:t>Store a pair:</a:t>
            </a:r>
          </a:p>
          <a:p>
            <a:pPr marL="400050" lvl="2" indent="0">
              <a:buNone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</a:rPr>
              <a:t>SET &lt;key&gt; &lt;value&gt;</a:t>
            </a:r>
            <a:b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endParaRPr lang="en-US" sz="2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US" dirty="0"/>
              <a:t>Print the value</a:t>
            </a:r>
          </a:p>
          <a:p>
            <a:pPr marL="342900" lvl="1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GET &lt;key&gt;</a:t>
            </a:r>
            <a:b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US" dirty="0"/>
              <a:t>Example</a:t>
            </a:r>
            <a:br>
              <a:rPr lang="en-US" dirty="0"/>
            </a:br>
            <a:br>
              <a:rPr lang="en-US" dirty="0"/>
            </a:b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</a:rPr>
              <a:t>SET name Alice  -&gt;  OK</a:t>
            </a:r>
            <a:b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</a:rPr>
              <a:t>GET name        -&gt;  Alice</a:t>
            </a:r>
            <a:b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</a:rPr>
              <a:t>SET age 30      -&gt;  OK</a:t>
            </a:r>
            <a:b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</a:rPr>
              <a:t>GET age         -&gt;  30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9551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4DDF8-3712-DCD9-83B7-735D6AC7E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F6210-BB92-8FB3-9CBC-70159F627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The Parser Problem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4ACBE-E0EF-E488-57B6-D433770A7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Parsing a protocol may require handling states and nested states</a:t>
            </a:r>
          </a:p>
          <a:p>
            <a:r>
              <a:rPr lang="en-US" dirty="0">
                <a:solidFill>
                  <a:srgbClr val="00B050"/>
                </a:solidFill>
              </a:rPr>
              <a:t>Pull</a:t>
            </a:r>
            <a:r>
              <a:rPr lang="en-US" dirty="0">
                <a:solidFill>
                  <a:srgbClr val="0070C0"/>
                </a:solidFill>
              </a:rPr>
              <a:t>: It may be straightforward to write a parser that pulls data (for instance from a file)</a:t>
            </a:r>
          </a:p>
          <a:p>
            <a:r>
              <a:rPr lang="en-US" dirty="0">
                <a:solidFill>
                  <a:srgbClr val="00B050"/>
                </a:solidFill>
              </a:rPr>
              <a:t>Push</a:t>
            </a:r>
            <a:r>
              <a:rPr lang="en-US" dirty="0">
                <a:solidFill>
                  <a:srgbClr val="0070C0"/>
                </a:solidFill>
              </a:rPr>
              <a:t>: It is more difficult when the data is pushed from an external source in arbitrary sized chunks.</a:t>
            </a:r>
          </a:p>
          <a:p>
            <a:r>
              <a:rPr lang="en-US" dirty="0">
                <a:solidFill>
                  <a:srgbClr val="0070C0"/>
                </a:solidFill>
              </a:rPr>
              <a:t>For example:</a:t>
            </a:r>
          </a:p>
          <a:p>
            <a:pPr marL="342900" lvl="1" indent="0">
              <a:buNone/>
            </a:pPr>
            <a:r>
              <a:rPr lang="en-US" dirty="0">
                <a:solidFill>
                  <a:srgbClr val="C00000"/>
                </a:solidFill>
              </a:rPr>
              <a:t>Chunk 1: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"SET </a:t>
            </a:r>
            <a:r>
              <a:rPr lang="en-US" sz="2600" dirty="0" err="1">
                <a:solidFill>
                  <a:srgbClr val="00B050"/>
                </a:solidFill>
                <a:latin typeface="Consolas" panose="020B0609020204030204" pitchFamily="49" charset="0"/>
              </a:rPr>
              <a:t>na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"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Chunk 2: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"me Alice\n"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Chunk 3: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"GET </a:t>
            </a:r>
            <a:r>
              <a:rPr lang="en-US" sz="2600" dirty="0" err="1">
                <a:solidFill>
                  <a:srgbClr val="00B050"/>
                </a:solidFill>
                <a:latin typeface="Consolas" panose="020B0609020204030204" pitchFamily="49" charset="0"/>
              </a:rPr>
              <a:t>na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"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Chunk 4: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"me\n"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Chunk 5: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"SET age "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Chunk 6: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"30\</a:t>
            </a:r>
            <a:r>
              <a:rPr lang="en-US" sz="2600" dirty="0" err="1">
                <a:solidFill>
                  <a:srgbClr val="00B050"/>
                </a:solidFill>
                <a:latin typeface="Consolas" panose="020B0609020204030204" pitchFamily="49" charset="0"/>
              </a:rPr>
              <a:t>nGET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 age\n"</a:t>
            </a:r>
          </a:p>
        </p:txBody>
      </p:sp>
    </p:spTree>
    <p:extLst>
      <p:ext uri="{BB962C8B-B14F-4D97-AF65-F5344CB8AC3E}">
        <p14:creationId xmlns:p14="http://schemas.microsoft.com/office/powerpoint/2010/main" val="841681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Parser</a:t>
            </a:r>
            <a:r>
              <a:rPr lang="en-US" dirty="0"/>
              <a:t> without coroutines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Data </a:t>
            </a:r>
            <a:r>
              <a:rPr dirty="0">
                <a:solidFill>
                  <a:srgbClr val="0070C0"/>
                </a:solidFill>
              </a:rPr>
              <a:t>arrives in arbitrary chunk sizes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Parser must buffer, split, keep track of state.</a:t>
            </a:r>
            <a:endParaRPr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Methods include</a:t>
            </a:r>
            <a:r>
              <a:rPr dirty="0">
                <a:solidFill>
                  <a:srgbClr val="0070C0"/>
                </a:solidFill>
              </a:rPr>
              <a:t> switches and offset tracking</a:t>
            </a:r>
          </a:p>
          <a:p>
            <a:r>
              <a:rPr dirty="0">
                <a:solidFill>
                  <a:srgbClr val="0070C0"/>
                </a:solidFill>
              </a:rPr>
              <a:t>Each partial read </a:t>
            </a:r>
            <a:r>
              <a:rPr lang="en-US" dirty="0">
                <a:solidFill>
                  <a:srgbClr val="0070C0"/>
                </a:solidFill>
              </a:rPr>
              <a:t>updates </a:t>
            </a:r>
            <a:r>
              <a:rPr dirty="0">
                <a:solidFill>
                  <a:srgbClr val="0070C0"/>
                </a:solidFill>
              </a:rPr>
              <a:t>continuation logic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Sometimes nested states need to be tracked: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Which argument are we parsing in the SET command?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What portion of the argument has been received?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B6660-7C5B-9EB8-D5B9-5B4A965E2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9F3BC-6714-64A8-8499-10D67C249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Parser</a:t>
            </a:r>
            <a:r>
              <a:rPr lang="en-US" dirty="0"/>
              <a:t> with coroutines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421C4-591B-B778-5A6E-063DAD7F2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We implement two independent flows:</a:t>
            </a:r>
          </a:p>
          <a:p>
            <a:pPr lvl="1"/>
            <a:r>
              <a:rPr lang="en-US" dirty="0">
                <a:solidFill>
                  <a:srgbClr val="92D050"/>
                </a:solidFill>
              </a:rPr>
              <a:t>Driver</a:t>
            </a:r>
            <a:r>
              <a:rPr lang="en-US" dirty="0">
                <a:solidFill>
                  <a:srgbClr val="0070C0"/>
                </a:solidFill>
              </a:rPr>
              <a:t> - pushes data in arbitrary sized chunks</a:t>
            </a:r>
          </a:p>
          <a:p>
            <a:pPr lvl="1"/>
            <a:r>
              <a:rPr lang="en-US" dirty="0">
                <a:solidFill>
                  <a:srgbClr val="92D050"/>
                </a:solidFill>
              </a:rPr>
              <a:t>Parser</a:t>
            </a:r>
            <a:r>
              <a:rPr lang="en-US" dirty="0">
                <a:solidFill>
                  <a:srgbClr val="0070C0"/>
                </a:solidFill>
              </a:rPr>
              <a:t> - pulls words and handles commands</a:t>
            </a:r>
          </a:p>
          <a:p>
            <a:r>
              <a:rPr lang="en-US" dirty="0">
                <a:solidFill>
                  <a:srgbClr val="0070C0"/>
                </a:solidFill>
              </a:rPr>
              <a:t>An </a:t>
            </a:r>
            <a:r>
              <a:rPr lang="en-US" dirty="0" err="1">
                <a:solidFill>
                  <a:srgbClr val="92D050"/>
                </a:solidFill>
              </a:rPr>
              <a:t>InputBuffer</a:t>
            </a:r>
            <a:r>
              <a:rPr lang="en-US" dirty="0">
                <a:solidFill>
                  <a:srgbClr val="0070C0"/>
                </a:solidFill>
              </a:rPr>
              <a:t> sits between the two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It is responsible for word parsing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Accepts arbitrary sized chunks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Returns whether a word is available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If so can be asked to return</a:t>
            </a:r>
          </a:p>
        </p:txBody>
      </p:sp>
    </p:spTree>
    <p:extLst>
      <p:ext uri="{BB962C8B-B14F-4D97-AF65-F5344CB8AC3E}">
        <p14:creationId xmlns:p14="http://schemas.microsoft.com/office/powerpoint/2010/main" val="4175152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Parser</a:t>
            </a:r>
            <a:r>
              <a:rPr lang="en-US" dirty="0"/>
              <a:t> with coroutines 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A4791E-4D26-8B27-C129-5CF2944D3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33" y="1451505"/>
            <a:ext cx="8466667" cy="4946317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628D2-02AA-D4BA-2DE6-251F92E35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4B8DE-50DC-C7BA-0B1F-EF9874770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2b. Parser with coroutines 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82DFB-5E97-F883-08EF-7AE783135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47" y="274638"/>
            <a:ext cx="8396053" cy="63168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8736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6EE15-1A4F-0ED7-AFE7-A4FF60F9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89313-D2B0-9DEE-00E2-132F08883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2b. Parser with coroutines 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69ED1A-E290-B3A5-4E9F-72580672B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57200"/>
            <a:ext cx="8517941" cy="48006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9815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9222F-309D-5C12-82C7-15C9E7D9C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B78B0-FBAF-4D87-2DA6-CB4791C44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3. The Async Work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CEC7B6-5862-975E-DBD7-BE97DCA72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Heavy work needs to be offloaded to a thread</a:t>
            </a:r>
          </a:p>
          <a:p>
            <a:r>
              <a:rPr lang="en-US" dirty="0">
                <a:solidFill>
                  <a:srgbClr val="0070C0"/>
                </a:solidFill>
              </a:rPr>
              <a:t>We need the result on the calling thread.</a:t>
            </a:r>
          </a:p>
          <a:p>
            <a:r>
              <a:rPr lang="en-US" dirty="0">
                <a:solidFill>
                  <a:srgbClr val="0070C0"/>
                </a:solidFill>
              </a:rPr>
              <a:t>Some options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Provide a completion callback 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Requires </a:t>
            </a:r>
            <a:r>
              <a:rPr lang="en-US" dirty="0">
                <a:solidFill>
                  <a:srgbClr val="FF0000"/>
                </a:solidFill>
              </a:rPr>
              <a:t>thread synchronization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Post the callback invocation to an event loop 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All code runs on the main event loop, no blocking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Callback hell </a:t>
            </a:r>
            <a:r>
              <a:rPr lang="en-US" dirty="0">
                <a:solidFill>
                  <a:srgbClr val="0070C0"/>
                </a:solidFill>
              </a:rPr>
              <a:t>- it is difficult to track flows across callbacks (e.g. for exception handling, debugging)</a:t>
            </a:r>
          </a:p>
        </p:txBody>
      </p:sp>
    </p:spTree>
    <p:extLst>
      <p:ext uri="{BB962C8B-B14F-4D97-AF65-F5344CB8AC3E}">
        <p14:creationId xmlns:p14="http://schemas.microsoft.com/office/powerpoint/2010/main" val="2471674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995520-447D-A8D0-8FA6-68A86CDC1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1167"/>
            <a:ext cx="7353937" cy="65156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Async Work </a:t>
            </a:r>
            <a:r>
              <a:rPr lang="en-US" dirty="0"/>
              <a:t>with coroutines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8964CD-8411-B267-B796-756A25C4F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199"/>
            <a:ext cx="8305800" cy="50261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7EE1A-A8E2-4BCA-8B64-35CC21D13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25B0E-D319-3E60-826D-3F1E0DF4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Async Work </a:t>
            </a:r>
            <a:r>
              <a:rPr lang="en-US" dirty="0"/>
              <a:t>with coroutines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E29FA-4625-5D02-F5E7-8C2B4A436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00200"/>
            <a:ext cx="8169829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948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BC3E8-541D-062D-B3B9-73AE60AD8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2FC4-4852-2CA7-242E-74262EAFA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Sneak Preview: </a:t>
            </a:r>
            <a:r>
              <a:rPr lang="en-US" dirty="0" err="1"/>
              <a:t>Awaitable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92CB3-171F-5E73-E9C5-04F7B838C19D}"/>
              </a:ext>
            </a:extLst>
          </p:cNvPr>
          <p:cNvSpPr txBox="1"/>
          <p:nvPr/>
        </p:nvSpPr>
        <p:spPr>
          <a:xfrm>
            <a:off x="381000" y="1752600"/>
            <a:ext cx="8458200" cy="378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co_await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expr 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auto&amp;&amp;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awaitable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= expr;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if (!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awaitable.</a:t>
            </a:r>
            <a:r>
              <a:rPr lang="en-US" dirty="0" err="1">
                <a:latin typeface="Consolas" panose="020B0609020204030204" pitchFamily="49" charset="0"/>
              </a:rPr>
              <a:t>await_ready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   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awaitable.</a:t>
            </a:r>
            <a:r>
              <a:rPr lang="en-US" dirty="0" err="1">
                <a:latin typeface="Consolas" panose="020B0609020204030204" pitchFamily="49" charset="0"/>
              </a:rPr>
              <a:t>await_suspend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coroutine_handle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);   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   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---- frame suspended ----   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    // ----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coroutine_handle.resume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() called later ----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result of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co_await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expression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return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awaitable.</a:t>
            </a:r>
            <a:r>
              <a:rPr lang="en-US" dirty="0" err="1">
                <a:latin typeface="Consolas" panose="020B0609020204030204" pitchFamily="49" charset="0"/>
              </a:rPr>
              <a:t>await_resume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(); 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578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A348A-363C-3D58-3884-401ACFD73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E6DED-D0B0-B765-7E21-E29F89D16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The Reactor Pattern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1F85F-42B2-D191-99AC-209FC54AB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Efficient handling of non-blocking sockets on a single thread</a:t>
            </a:r>
          </a:p>
          <a:p>
            <a:r>
              <a:rPr lang="en-US" dirty="0">
                <a:solidFill>
                  <a:srgbClr val="0070C0"/>
                </a:solidFill>
              </a:rPr>
              <a:t>Callers register a callback for a file descriptor and direction (read or write)</a:t>
            </a:r>
          </a:p>
          <a:p>
            <a:r>
              <a:rPr lang="en-US" dirty="0">
                <a:solidFill>
                  <a:srgbClr val="0070C0"/>
                </a:solidFill>
              </a:rPr>
              <a:t>A single thread waits on all registered </a:t>
            </a:r>
            <a:r>
              <a:rPr lang="en-US" dirty="0" err="1">
                <a:solidFill>
                  <a:srgbClr val="0070C0"/>
                </a:solidFill>
              </a:rPr>
              <a:t>fds</a:t>
            </a:r>
            <a:r>
              <a:rPr lang="en-US" dirty="0">
                <a:solidFill>
                  <a:srgbClr val="0070C0"/>
                </a:solidFill>
              </a:rPr>
              <a:t> (select / </a:t>
            </a:r>
            <a:r>
              <a:rPr lang="en-US" dirty="0" err="1">
                <a:solidFill>
                  <a:srgbClr val="0070C0"/>
                </a:solidFill>
              </a:rPr>
              <a:t>epoll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r>
              <a:rPr lang="en-US" dirty="0">
                <a:solidFill>
                  <a:srgbClr val="0070C0"/>
                </a:solidFill>
              </a:rPr>
              <a:t>When a </a:t>
            </a:r>
            <a:r>
              <a:rPr lang="en-US" dirty="0" err="1">
                <a:solidFill>
                  <a:srgbClr val="0070C0"/>
                </a:solidFill>
              </a:rPr>
              <a:t>fd</a:t>
            </a:r>
            <a:r>
              <a:rPr lang="en-US" dirty="0">
                <a:solidFill>
                  <a:srgbClr val="0070C0"/>
                </a:solidFill>
              </a:rPr>
              <a:t> is ready, the reactor dispatches its callback</a:t>
            </a:r>
          </a:p>
          <a:p>
            <a:r>
              <a:rPr lang="en-US" dirty="0">
                <a:solidFill>
                  <a:srgbClr val="0070C0"/>
                </a:solidFill>
              </a:rPr>
              <a:t>The callback does its work, then re-registers or registers the next </a:t>
            </a:r>
            <a:r>
              <a:rPr lang="en-US" dirty="0" err="1">
                <a:solidFill>
                  <a:srgbClr val="0070C0"/>
                </a:solidFill>
              </a:rPr>
              <a:t>fd</a:t>
            </a:r>
            <a:r>
              <a:rPr lang="en-US" dirty="0">
                <a:solidFill>
                  <a:srgbClr val="0070C0"/>
                </a:solidFill>
              </a:rPr>
              <a:t> to continue the session</a:t>
            </a:r>
          </a:p>
          <a:p>
            <a:r>
              <a:rPr lang="en-US" dirty="0">
                <a:solidFill>
                  <a:srgbClr val="0070C0"/>
                </a:solidFill>
              </a:rPr>
              <a:t>All logic runs on one thread — no locks needed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70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76F4E-9FD8-F016-A797-6976E6B36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BCEB6-0194-AA47-04C3-865342E61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4. The Async I/O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DB2B3B-917B-DF16-E203-FA96B4CC0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Reads and writes may be </a:t>
            </a:r>
            <a:r>
              <a:rPr lang="en-US" dirty="0">
                <a:solidFill>
                  <a:srgbClr val="00B050"/>
                </a:solidFill>
              </a:rPr>
              <a:t>partial</a:t>
            </a:r>
            <a:r>
              <a:rPr lang="en-US" dirty="0">
                <a:solidFill>
                  <a:srgbClr val="0070C0"/>
                </a:solidFill>
              </a:rPr>
              <a:t> a single call may transfer fewer bytes than requested</a:t>
            </a:r>
          </a:p>
          <a:p>
            <a:r>
              <a:rPr lang="en-US" dirty="0">
                <a:solidFill>
                  <a:srgbClr val="0070C0"/>
                </a:solidFill>
              </a:rPr>
              <a:t>The caller must track an </a:t>
            </a:r>
            <a:r>
              <a:rPr lang="en-US" dirty="0">
                <a:solidFill>
                  <a:srgbClr val="00B050"/>
                </a:solidFill>
              </a:rPr>
              <a:t>offset</a:t>
            </a:r>
            <a:r>
              <a:rPr lang="en-US" dirty="0">
                <a:solidFill>
                  <a:srgbClr val="0070C0"/>
                </a:solidFill>
              </a:rPr>
              <a:t> and retry until the full message is transferred</a:t>
            </a:r>
          </a:p>
          <a:p>
            <a:r>
              <a:rPr lang="en-US" dirty="0">
                <a:solidFill>
                  <a:srgbClr val="0070C0"/>
                </a:solidFill>
              </a:rPr>
              <a:t>A </a:t>
            </a:r>
            <a:r>
              <a:rPr lang="en-US" dirty="0">
                <a:solidFill>
                  <a:srgbClr val="00B050"/>
                </a:solidFill>
              </a:rPr>
              <a:t>multi-step session </a:t>
            </a:r>
            <a:r>
              <a:rPr lang="en-US" dirty="0">
                <a:solidFill>
                  <a:srgbClr val="0070C0"/>
                </a:solidFill>
              </a:rPr>
              <a:t>(read request → process → write response → repeat) must be broken into separate callbacks</a:t>
            </a:r>
          </a:p>
          <a:p>
            <a:r>
              <a:rPr lang="en-US" dirty="0">
                <a:solidFill>
                  <a:srgbClr val="0070C0"/>
                </a:solidFill>
              </a:rPr>
              <a:t>Each callback must </a:t>
            </a:r>
            <a:r>
              <a:rPr lang="en-US" dirty="0">
                <a:solidFill>
                  <a:srgbClr val="00B050"/>
                </a:solidFill>
              </a:rPr>
              <a:t>save its state </a:t>
            </a:r>
            <a:r>
              <a:rPr lang="en-US" dirty="0">
                <a:solidFill>
                  <a:srgbClr val="0070C0"/>
                </a:solidFill>
              </a:rPr>
              <a:t>in the session so the next callback knows where to continue</a:t>
            </a:r>
          </a:p>
          <a:p>
            <a:r>
              <a:rPr lang="en-US" dirty="0">
                <a:solidFill>
                  <a:srgbClr val="0070C0"/>
                </a:solidFill>
              </a:rPr>
              <a:t>State that would be local variables in synchronous code — buffer, offset, session phase - must be </a:t>
            </a:r>
            <a:r>
              <a:rPr lang="en-US" dirty="0">
                <a:solidFill>
                  <a:srgbClr val="00B050"/>
                </a:solidFill>
              </a:rPr>
              <a:t>kept alive across callbacks </a:t>
            </a:r>
            <a:r>
              <a:rPr lang="en-US" dirty="0">
                <a:solidFill>
                  <a:srgbClr val="0070C0"/>
                </a:solidFill>
              </a:rPr>
              <a:t>(typically via </a:t>
            </a:r>
            <a:r>
              <a:rPr lang="en-US" dirty="0" err="1">
                <a:solidFill>
                  <a:srgbClr val="0070C0"/>
                </a:solidFill>
              </a:rPr>
              <a:t>shared_ptr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90598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83385-86BA-F51C-D7D2-5DBB388D8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9F2A-2A77-8853-AECB-99C9ED8F2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Async I/O</a:t>
            </a:r>
            <a:r>
              <a:rPr lang="en-US" dirty="0"/>
              <a:t> demo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DC1D5-F9A8-588F-FE92-6DDC4AB9F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The server reads line-delimited arithmetic expressions (</a:t>
            </a:r>
            <a:r>
              <a:rPr lang="en-US" dirty="0">
                <a:solidFill>
                  <a:srgbClr val="00B050"/>
                </a:solidFill>
              </a:rPr>
              <a:t>2+2\n, 10-3\n, …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r>
              <a:rPr lang="en-US" dirty="0">
                <a:solidFill>
                  <a:srgbClr val="0070C0"/>
                </a:solidFill>
              </a:rPr>
              <a:t>It evaluates them, and writes back the result</a:t>
            </a:r>
          </a:p>
          <a:p>
            <a:r>
              <a:rPr lang="en-US" dirty="0">
                <a:solidFill>
                  <a:srgbClr val="0070C0"/>
                </a:solidFill>
              </a:rPr>
              <a:t>The client sends expressions and reads responses in a request-response loop</a:t>
            </a:r>
          </a:p>
          <a:p>
            <a:r>
              <a:rPr lang="en-US" dirty="0">
                <a:solidFill>
                  <a:srgbClr val="0070C0"/>
                </a:solidFill>
              </a:rPr>
              <a:t>Both sides run concurrently on a </a:t>
            </a:r>
            <a:r>
              <a:rPr lang="en-US" dirty="0">
                <a:solidFill>
                  <a:srgbClr val="00B050"/>
                </a:solidFill>
              </a:rPr>
              <a:t>single thread </a:t>
            </a:r>
            <a:r>
              <a:rPr lang="en-US" dirty="0">
                <a:solidFill>
                  <a:srgbClr val="0070C0"/>
                </a:solidFill>
              </a:rPr>
              <a:t>via the </a:t>
            </a:r>
            <a:r>
              <a:rPr lang="en-US" dirty="0">
                <a:solidFill>
                  <a:srgbClr val="00B050"/>
                </a:solidFill>
              </a:rPr>
              <a:t>Reactor</a:t>
            </a:r>
          </a:p>
          <a:p>
            <a:r>
              <a:rPr lang="en-US" dirty="0">
                <a:solidFill>
                  <a:srgbClr val="0070C0"/>
                </a:solidFill>
              </a:rPr>
              <a:t>Multiple sessions can run simultaneously, all driven by the same </a:t>
            </a:r>
            <a:r>
              <a:rPr lang="en-US" dirty="0">
                <a:solidFill>
                  <a:srgbClr val="00B050"/>
                </a:solidFill>
              </a:rPr>
              <a:t>Reactor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378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Async I/O</a:t>
            </a:r>
            <a:r>
              <a:rPr lang="en-US" dirty="0"/>
              <a:t> with coroutines: Client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F5C6A6-6112-E733-9E74-DADEAE0BE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17638"/>
            <a:ext cx="7906435" cy="52468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6AD5E-A105-E94B-BB1E-173C23C7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AD510-1F0A-265F-7BF3-6E97930B7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Async I/O</a:t>
            </a:r>
            <a:r>
              <a:rPr lang="en-US" dirty="0"/>
              <a:t> with coroutines: Server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475A17-6A8F-6B4C-DFB6-86704BCDA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17638"/>
            <a:ext cx="8755872" cy="437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68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 The Task composition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We want to chain async operations and collect a final result</a:t>
            </a:r>
          </a:p>
          <a:p>
            <a:r>
              <a:rPr lang="en-US" sz="4000" dirty="0">
                <a:solidFill>
                  <a:srgbClr val="0070C0"/>
                </a:solidFill>
              </a:rPr>
              <a:t>Each step is a continuation of the previous - "when this finishes, do that"</a:t>
            </a:r>
          </a:p>
          <a:p>
            <a:r>
              <a:rPr lang="en-US" sz="4000" dirty="0">
                <a:solidFill>
                  <a:srgbClr val="FF0000"/>
                </a:solidFill>
              </a:rPr>
              <a:t>Intermediate state </a:t>
            </a:r>
          </a:p>
          <a:p>
            <a:pPr lvl="1"/>
            <a:r>
              <a:rPr lang="en-US" sz="3600" dirty="0">
                <a:solidFill>
                  <a:srgbClr val="0070C0"/>
                </a:solidFill>
              </a:rPr>
              <a:t>that would be local variables must be lifted into a shared object kept alive across all callbacks</a:t>
            </a:r>
          </a:p>
          <a:p>
            <a:r>
              <a:rPr lang="en-US" sz="4000" dirty="0">
                <a:solidFill>
                  <a:srgbClr val="FF0000"/>
                </a:solidFill>
              </a:rPr>
              <a:t>Error handling </a:t>
            </a:r>
          </a:p>
          <a:p>
            <a:pPr lvl="1"/>
            <a:r>
              <a:rPr lang="en-US" sz="3600" dirty="0">
                <a:solidFill>
                  <a:srgbClr val="0070C0"/>
                </a:solidFill>
              </a:rPr>
              <a:t>each callback must check for failure and decide whether to propagate - there is no try/catch that spans the whole chain</a:t>
            </a:r>
          </a:p>
          <a:p>
            <a:r>
              <a:rPr lang="en-US" sz="4000" dirty="0">
                <a:solidFill>
                  <a:srgbClr val="FF0000"/>
                </a:solidFill>
              </a:rPr>
              <a:t>Reordering</a:t>
            </a:r>
          </a:p>
          <a:p>
            <a:pPr lvl="1"/>
            <a:r>
              <a:rPr lang="en-US" sz="3600" dirty="0">
                <a:solidFill>
                  <a:srgbClr val="0070C0"/>
                </a:solidFill>
              </a:rPr>
              <a:t>inserting or removing a step means changing which callback calls. The logic is in the wiring making it difficult to maintain.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E8AD2-D10E-EC10-1E0C-F45300466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92E2C-EAF0-8470-89BC-5148570A3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Task composition </a:t>
            </a:r>
            <a:r>
              <a:rPr lang="en-US" dirty="0"/>
              <a:t>demo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67089-D67A-B2F9-0E5A-189A89D42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>
                <a:solidFill>
                  <a:srgbClr val="00B050"/>
                </a:solidFill>
              </a:rPr>
              <a:t>SolveQuiz</a:t>
            </a:r>
            <a:r>
              <a:rPr lang="en-US" dirty="0"/>
              <a:t>: Building on the </a:t>
            </a:r>
            <a:r>
              <a:rPr lang="en-US" dirty="0">
                <a:solidFill>
                  <a:srgbClr val="00B050"/>
                </a:solidFill>
              </a:rPr>
              <a:t>Async I/O</a:t>
            </a:r>
            <a:r>
              <a:rPr lang="en-US" dirty="0"/>
              <a:t> demo - same reactor, line protocol and </a:t>
            </a:r>
            <a:r>
              <a:rPr lang="en-US" dirty="0" err="1"/>
              <a:t>CalcServer</a:t>
            </a:r>
            <a:r>
              <a:rPr lang="en-US" dirty="0"/>
              <a:t>. </a:t>
            </a:r>
          </a:p>
          <a:p>
            <a:r>
              <a:rPr lang="en-US" dirty="0"/>
              <a:t>The client has a fixed set of questions and sends them to the server, waiting for a response before sending the next.</a:t>
            </a:r>
          </a:p>
          <a:p>
            <a:r>
              <a:rPr lang="en-US" dirty="0"/>
              <a:t>The client returns the accumulated answers from all questions.</a:t>
            </a:r>
          </a:p>
          <a:p>
            <a:r>
              <a:rPr lang="en-US" dirty="0"/>
              <a:t>The new problem: how to accumulate a result across several async steps and return it to synchronous 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106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Task composition</a:t>
            </a:r>
            <a:r>
              <a:rPr lang="en-US" dirty="0"/>
              <a:t> with coroutines </a:t>
            </a:r>
            <a:endParaRPr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56B3C7C-34C9-8BC9-4D47-40ABE86D1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0" y="1420659"/>
            <a:ext cx="7315834" cy="543734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coroutine?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A function that can </a:t>
            </a:r>
            <a:r>
              <a:rPr lang="en-US" dirty="0">
                <a:solidFill>
                  <a:srgbClr val="00B050"/>
                </a:solidFill>
              </a:rPr>
              <a:t>suspend</a:t>
            </a:r>
            <a:r>
              <a:rPr lang="en-US" dirty="0">
                <a:solidFill>
                  <a:srgbClr val="0070C0"/>
                </a:solidFill>
              </a:rPr>
              <a:t> and </a:t>
            </a:r>
            <a:r>
              <a:rPr lang="en-US" dirty="0">
                <a:solidFill>
                  <a:srgbClr val="00B050"/>
                </a:solidFill>
              </a:rPr>
              <a:t>resume</a:t>
            </a:r>
            <a:r>
              <a:rPr lang="en-US" dirty="0">
                <a:solidFill>
                  <a:srgbClr val="0070C0"/>
                </a:solidFill>
              </a:rPr>
              <a:t> later</a:t>
            </a:r>
          </a:p>
          <a:p>
            <a:r>
              <a:rPr lang="en-US" dirty="0">
                <a:solidFill>
                  <a:srgbClr val="0070C0"/>
                </a:solidFill>
              </a:rPr>
              <a:t>From the caller's view it </a:t>
            </a:r>
            <a:r>
              <a:rPr lang="en-US" dirty="0">
                <a:solidFill>
                  <a:srgbClr val="00B050"/>
                </a:solidFill>
              </a:rPr>
              <a:t>leaves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returns</a:t>
            </a:r>
            <a:r>
              <a:rPr lang="en-US" dirty="0">
                <a:solidFill>
                  <a:srgbClr val="0070C0"/>
                </a:solidFill>
              </a:rPr>
              <a:t> many times</a:t>
            </a:r>
          </a:p>
          <a:p>
            <a:r>
              <a:rPr lang="en-US" dirty="0">
                <a:solidFill>
                  <a:srgbClr val="0070C0"/>
                </a:solidFill>
              </a:rPr>
              <a:t>Each return is a </a:t>
            </a:r>
            <a:r>
              <a:rPr lang="en-US" dirty="0">
                <a:solidFill>
                  <a:srgbClr val="00B050"/>
                </a:solidFill>
              </a:rPr>
              <a:t>resume</a:t>
            </a:r>
            <a:r>
              <a:rPr lang="en-US" dirty="0">
                <a:solidFill>
                  <a:srgbClr val="0070C0"/>
                </a:solidFill>
              </a:rPr>
              <a:t>, not a fresh call - </a:t>
            </a:r>
            <a:r>
              <a:rPr lang="en-US" dirty="0">
                <a:solidFill>
                  <a:srgbClr val="00B050"/>
                </a:solidFill>
              </a:rPr>
              <a:t>state is preserved </a:t>
            </a:r>
            <a:r>
              <a:rPr lang="en-US" dirty="0">
                <a:solidFill>
                  <a:srgbClr val="0070C0"/>
                </a:solidFill>
              </a:rPr>
              <a:t>in the coroutine frame</a:t>
            </a:r>
          </a:p>
          <a:p>
            <a:r>
              <a:rPr lang="en-US" dirty="0">
                <a:solidFill>
                  <a:srgbClr val="0070C0"/>
                </a:solidFill>
              </a:rPr>
              <a:t>The compiler rewrites coroutines into a </a:t>
            </a:r>
            <a:r>
              <a:rPr lang="en-US" dirty="0">
                <a:solidFill>
                  <a:srgbClr val="00B050"/>
                </a:solidFill>
              </a:rPr>
              <a:t>state machine </a:t>
            </a:r>
            <a:r>
              <a:rPr lang="en-US" dirty="0">
                <a:solidFill>
                  <a:srgbClr val="0070C0"/>
                </a:solidFill>
              </a:rPr>
              <a:t>-no threads and no additional stacks are involved</a:t>
            </a:r>
          </a:p>
          <a:p>
            <a:r>
              <a:rPr lang="en-US" dirty="0">
                <a:solidFill>
                  <a:srgbClr val="0070C0"/>
                </a:solidFill>
              </a:rPr>
              <a:t>All locals live in a </a:t>
            </a:r>
            <a:r>
              <a:rPr lang="en-US" dirty="0">
                <a:solidFill>
                  <a:srgbClr val="00B050"/>
                </a:solidFill>
              </a:rPr>
              <a:t>heap-allocated frame </a:t>
            </a:r>
            <a:r>
              <a:rPr lang="en-US" dirty="0">
                <a:solidFill>
                  <a:srgbClr val="0070C0"/>
                </a:solidFill>
              </a:rPr>
              <a:t>that survives suspension.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51834-1F20-9873-6DA0-51B85C513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29BCA-2562-2632-ECE5-F2611ECE3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Coroutines in C++ 20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F5F4C-412E-CA41-E97F-47BEF8D91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 function is considered a coroutine by the compiler when </a:t>
            </a:r>
            <a:r>
              <a:rPr lang="en-US" dirty="0">
                <a:solidFill>
                  <a:srgbClr val="00B050"/>
                </a:solidFill>
              </a:rPr>
              <a:t>all</a:t>
            </a:r>
            <a:r>
              <a:rPr lang="en-US" dirty="0">
                <a:solidFill>
                  <a:srgbClr val="0070C0"/>
                </a:solidFill>
              </a:rPr>
              <a:t> of these hold: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It uses at least one of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co_await</a:t>
            </a:r>
            <a:r>
              <a:rPr lang="en-US" dirty="0">
                <a:solidFill>
                  <a:srgbClr val="0070C0"/>
                </a:solidFill>
              </a:rPr>
              <a:t>, 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co_yield</a:t>
            </a:r>
            <a:r>
              <a:rPr lang="en-US" dirty="0">
                <a:solidFill>
                  <a:srgbClr val="0070C0"/>
                </a:solidFill>
              </a:rPr>
              <a:t>, or 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co_return</a:t>
            </a:r>
            <a:endParaRPr lang="en-US" sz="24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Its return type must have a nested 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promise_type</a:t>
            </a:r>
            <a:endParaRPr lang="en-US" sz="24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The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promise_type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must have certain methods. These are hooks that determine the behavior of the coroutine.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3950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1977C-154B-CBCC-7FDA-4DB8F090B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8410-F909-AF9E-0118-8901FF2C2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promise_type</a:t>
            </a:r>
            <a:r>
              <a:rPr lang="en-US" dirty="0"/>
              <a:t> hooks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D9781-B4CE-21B8-BA09-73F5E418C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600" dirty="0" err="1">
                <a:solidFill>
                  <a:srgbClr val="00B050"/>
                </a:solidFill>
                <a:latin typeface="Consolas" panose="020B0609020204030204" pitchFamily="49" charset="0"/>
              </a:rPr>
              <a:t>get_return_object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Called to build the return object from the frame handle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  <a:p>
            <a:r>
              <a:rPr lang="en-US" sz="2600" dirty="0" err="1">
                <a:solidFill>
                  <a:srgbClr val="00B050"/>
                </a:solidFill>
                <a:latin typeface="Consolas" panose="020B0609020204030204" pitchFamily="49" charset="0"/>
              </a:rPr>
              <a:t>initial_suspend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Called to determine lazy start or eager start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  <a:p>
            <a:r>
              <a:rPr lang="en-US" sz="2600" dirty="0" err="1">
                <a:solidFill>
                  <a:srgbClr val="00B050"/>
                </a:solidFill>
                <a:latin typeface="Consolas" panose="020B0609020204030204" pitchFamily="49" charset="0"/>
              </a:rPr>
              <a:t>final_suspend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Called to keep frame alive at end, or chain to a continuation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  <a:p>
            <a:r>
              <a:rPr lang="en-US" sz="2600" dirty="0" err="1">
                <a:solidFill>
                  <a:srgbClr val="00B050"/>
                </a:solidFill>
                <a:latin typeface="Consolas" panose="020B0609020204030204" pitchFamily="49" charset="0"/>
              </a:rPr>
              <a:t>return_void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() </a:t>
            </a:r>
            <a:r>
              <a:rPr lang="en-US" dirty="0">
                <a:solidFill>
                  <a:srgbClr val="0070C0"/>
                </a:solidFill>
              </a:rPr>
              <a:t>or </a:t>
            </a:r>
            <a:r>
              <a:rPr lang="en-US" sz="2600" dirty="0" err="1">
                <a:solidFill>
                  <a:srgbClr val="00B050"/>
                </a:solidFill>
                <a:latin typeface="Consolas" panose="020B0609020204030204" pitchFamily="49" charset="0"/>
              </a:rPr>
              <a:t>return_value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(T)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Called at </a:t>
            </a:r>
            <a:r>
              <a:rPr lang="en-US" sz="2600" dirty="0" err="1">
                <a:solidFill>
                  <a:srgbClr val="00B050"/>
                </a:solidFill>
                <a:latin typeface="Consolas" panose="020B0609020204030204" pitchFamily="49" charset="0"/>
              </a:rPr>
              <a:t>co_return</a:t>
            </a:r>
            <a:b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endParaRPr lang="en-US" sz="26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2600" dirty="0" err="1">
                <a:solidFill>
                  <a:srgbClr val="00B050"/>
                </a:solidFill>
                <a:latin typeface="Consolas" panose="020B0609020204030204" pitchFamily="49" charset="0"/>
              </a:rPr>
              <a:t>yield_value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(U)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Called at </a:t>
            </a:r>
            <a:r>
              <a:rPr lang="en-US" sz="2600" dirty="0" err="1">
                <a:solidFill>
                  <a:srgbClr val="00B050"/>
                </a:solidFill>
                <a:latin typeface="Consolas" panose="020B0609020204030204" pitchFamily="49" charset="0"/>
              </a:rPr>
              <a:t>co_yield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70C0"/>
                </a:solidFill>
              </a:rPr>
              <a:t>(Used by generators)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  <a:p>
            <a:r>
              <a:rPr lang="en-US" sz="2600" dirty="0" err="1">
                <a:solidFill>
                  <a:srgbClr val="00B050"/>
                </a:solidFill>
                <a:latin typeface="Consolas" panose="020B0609020204030204" pitchFamily="49" charset="0"/>
              </a:rPr>
              <a:t>unhandled_exception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Called if the body throws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4641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609A8-2512-9803-F051-E4AC754F6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56AE6-E199-C3FC-060C-C443A683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Coroutines in practice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406B1D-2201-C41E-15B4-DFE87482F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C++20 gives the language mechanism.</a:t>
            </a:r>
          </a:p>
          <a:p>
            <a:r>
              <a:rPr lang="en-US" dirty="0">
                <a:solidFill>
                  <a:srgbClr val="0070C0"/>
                </a:solidFill>
              </a:rPr>
              <a:t>C++20 does not ship any implementations</a:t>
            </a:r>
          </a:p>
          <a:p>
            <a:r>
              <a:rPr lang="en-US" dirty="0">
                <a:solidFill>
                  <a:srgbClr val="0070C0"/>
                </a:solidFill>
              </a:rPr>
              <a:t>C++23 adds 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std::generator </a:t>
            </a:r>
            <a:r>
              <a:rPr lang="en-US" dirty="0">
                <a:solidFill>
                  <a:srgbClr val="0070C0"/>
                </a:solidFill>
              </a:rPr>
              <a:t>use instead of a custom Generator</a:t>
            </a:r>
          </a:p>
          <a:p>
            <a:r>
              <a:rPr lang="en-US" dirty="0">
                <a:solidFill>
                  <a:srgbClr val="0070C0"/>
                </a:solidFill>
              </a:rPr>
              <a:t>Still no standard 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std::task </a:t>
            </a:r>
            <a:r>
              <a:rPr lang="en-US" dirty="0">
                <a:solidFill>
                  <a:srgbClr val="0070C0"/>
                </a:solidFill>
              </a:rPr>
              <a:t>in C++23. </a:t>
            </a:r>
          </a:p>
          <a:p>
            <a:r>
              <a:rPr lang="en-US" dirty="0">
                <a:solidFill>
                  <a:srgbClr val="0070C0"/>
                </a:solidFill>
              </a:rPr>
              <a:t>Tasks and async I/O remain library features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518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5F4F1-13FE-33C5-BBDE-9A9E182AF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79C8B-9374-EECE-4E86-13DDBC61D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Common Libraries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F48B33-4D79-49F3-5EE5-2D6351A9A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Asio (boost or standalone)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async I/O, sockets, timers</a:t>
            </a:r>
          </a:p>
          <a:p>
            <a:r>
              <a:rPr lang="en-US" dirty="0" err="1">
                <a:solidFill>
                  <a:srgbClr val="0070C0"/>
                </a:solidFill>
              </a:rPr>
              <a:t>cppcoro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</a:rPr>
              <a:t>tasks, generators, event loops</a:t>
            </a:r>
          </a:p>
          <a:p>
            <a:r>
              <a:rPr lang="en-US" dirty="0" err="1">
                <a:solidFill>
                  <a:srgbClr val="0070C0"/>
                </a:solidFill>
              </a:rPr>
              <a:t>Libunifex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</a:rPr>
              <a:t>sender/receiver async pipelines</a:t>
            </a:r>
          </a:p>
          <a:p>
            <a:r>
              <a:rPr lang="en-US" dirty="0">
                <a:solidFill>
                  <a:srgbClr val="0070C0"/>
                </a:solidFill>
              </a:rPr>
              <a:t>folly::</a:t>
            </a:r>
            <a:r>
              <a:rPr lang="en-US" dirty="0" err="1">
                <a:solidFill>
                  <a:srgbClr val="0070C0"/>
                </a:solidFill>
              </a:rPr>
              <a:t>coro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</a:rPr>
              <a:t>tasks and executors (Facebook)</a:t>
            </a:r>
          </a:p>
          <a:p>
            <a:r>
              <a:rPr lang="en-US" dirty="0" err="1">
                <a:solidFill>
                  <a:srgbClr val="0070C0"/>
                </a:solidFill>
              </a:rPr>
              <a:t>Qcoro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</a:rPr>
              <a:t>Qt networking and signals/slots</a:t>
            </a:r>
          </a:p>
        </p:txBody>
      </p:sp>
    </p:spTree>
    <p:extLst>
      <p:ext uri="{BB962C8B-B14F-4D97-AF65-F5344CB8AC3E}">
        <p14:creationId xmlns:p14="http://schemas.microsoft.com/office/powerpoint/2010/main" val="384804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6360D-7EB1-1489-0DF3-8626BB2A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we addressed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3128E-7C2E-72B9-FB48-8BCF9AE33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Generator</a:t>
            </a:r>
          </a:p>
          <a:p>
            <a:pPr lvl="1"/>
            <a:r>
              <a:rPr lang="en-US" dirty="0"/>
              <a:t>lazy production of a sequence; state preserved between requests</a:t>
            </a:r>
          </a:p>
          <a:p>
            <a:r>
              <a:rPr lang="en-US" dirty="0">
                <a:solidFill>
                  <a:srgbClr val="0070C0"/>
                </a:solidFill>
              </a:rPr>
              <a:t>Parser</a:t>
            </a:r>
          </a:p>
          <a:p>
            <a:pPr lvl="1"/>
            <a:r>
              <a:rPr lang="en-US" dirty="0"/>
              <a:t>push-style input in arbitrary chunks; buffering, splitting, and nested protocol state</a:t>
            </a:r>
          </a:p>
          <a:p>
            <a:r>
              <a:rPr lang="en-US" dirty="0">
                <a:solidFill>
                  <a:srgbClr val="0070C0"/>
                </a:solidFill>
              </a:rPr>
              <a:t>Async work </a:t>
            </a:r>
          </a:p>
          <a:p>
            <a:pPr lvl="1"/>
            <a:r>
              <a:rPr lang="en-US" dirty="0"/>
              <a:t>offload heavy work to a thread; get the result back on the calling thread</a:t>
            </a:r>
          </a:p>
          <a:p>
            <a:r>
              <a:rPr lang="en-US" dirty="0">
                <a:solidFill>
                  <a:srgbClr val="0070C0"/>
                </a:solidFill>
              </a:rPr>
              <a:t>Async I/O</a:t>
            </a:r>
          </a:p>
          <a:p>
            <a:pPr lvl="1"/>
            <a:r>
              <a:rPr lang="en-US" dirty="0"/>
              <a:t>partial reads/writes and multi-step sessions over non-blocking </a:t>
            </a:r>
            <a:r>
              <a:rPr lang="en-US" dirty="0" err="1"/>
              <a:t>fds</a:t>
            </a:r>
            <a:r>
              <a:rPr lang="en-US" dirty="0"/>
              <a:t> via a reactor</a:t>
            </a:r>
          </a:p>
          <a:p>
            <a:r>
              <a:rPr lang="en-US" dirty="0">
                <a:solidFill>
                  <a:srgbClr val="0070C0"/>
                </a:solidFill>
              </a:rPr>
              <a:t>Task composition</a:t>
            </a:r>
          </a:p>
          <a:p>
            <a:pPr lvl="1"/>
            <a:r>
              <a:rPr lang="en-US" dirty="0"/>
              <a:t>chain async steps and accumulate a final result back to synchronous code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7677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7AC48-FB2D-B87F-AF46-FBC899DC9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6F0FB-FB6D-3B26-7191-85BCD1CA6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679DF-0D3A-D925-28B3-89AB37F38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Five different problems - one underlying difficulty: </a:t>
            </a:r>
          </a:p>
          <a:p>
            <a:pPr lvl="1"/>
            <a:r>
              <a:rPr lang="en-US" sz="2400" dirty="0"/>
              <a:t>leave execution and come back later</a:t>
            </a:r>
          </a:p>
          <a:p>
            <a:r>
              <a:rPr lang="en-US" sz="2800" dirty="0">
                <a:solidFill>
                  <a:srgbClr val="0070C0"/>
                </a:solidFill>
              </a:rPr>
              <a:t>Without coroutines: </a:t>
            </a:r>
          </a:p>
          <a:p>
            <a:pPr lvl="1"/>
            <a:r>
              <a:rPr lang="en-US" sz="2400" dirty="0"/>
              <a:t>state machines, callback chains, and shared objects replace what would be local variables and straight-line control flow</a:t>
            </a:r>
          </a:p>
          <a:p>
            <a:r>
              <a:rPr lang="en-US" sz="2800" dirty="0">
                <a:solidFill>
                  <a:srgbClr val="0070C0"/>
                </a:solidFill>
              </a:rPr>
              <a:t>With coroutines:</a:t>
            </a:r>
          </a:p>
          <a:p>
            <a:pPr lvl="1"/>
            <a:r>
              <a:rPr lang="en-US" sz="2400" dirty="0"/>
              <a:t>the same logic reads sequentially </a:t>
            </a:r>
          </a:p>
          <a:p>
            <a:r>
              <a:rPr lang="en-US" sz="2800" dirty="0">
                <a:solidFill>
                  <a:srgbClr val="0070C0"/>
                </a:solidFill>
              </a:rPr>
              <a:t>Efficiency</a:t>
            </a:r>
          </a:p>
          <a:p>
            <a:pPr lvl="1"/>
            <a:r>
              <a:rPr lang="en-US" sz="2400" dirty="0"/>
              <a:t>The compiler copies the body into a heap frame there is no extra thread stack</a:t>
            </a:r>
          </a:p>
          <a:p>
            <a:r>
              <a:rPr lang="en-US" sz="2800" dirty="0">
                <a:solidFill>
                  <a:srgbClr val="0070C0"/>
                </a:solidFill>
              </a:rPr>
              <a:t>Difficult to get right</a:t>
            </a:r>
          </a:p>
          <a:p>
            <a:pPr lvl="1"/>
            <a:r>
              <a:rPr lang="en-US" sz="2400" dirty="0"/>
              <a:t>Do not write your own, use libraries</a:t>
            </a: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491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2060</TotalTime>
  <Words>1532</Words>
  <Application>Microsoft Office PowerPoint</Application>
  <PresentationFormat>On-screen Show (4:3)</PresentationFormat>
  <Paragraphs>184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Consolas</vt:lpstr>
      <vt:lpstr>Office Theme</vt:lpstr>
      <vt:lpstr>Agenda</vt:lpstr>
      <vt:lpstr>Overview of the repo</vt:lpstr>
      <vt:lpstr>1. The Generator Problem</vt:lpstr>
      <vt:lpstr>Generators without coroutines </vt:lpstr>
      <vt:lpstr>Fibonacci with coroutines </vt:lpstr>
      <vt:lpstr>Tree traversal with coroutines </vt:lpstr>
      <vt:lpstr>Tree traversal with coroutines </vt:lpstr>
      <vt:lpstr>Command Protocol</vt:lpstr>
      <vt:lpstr>2. The Parser Problem</vt:lpstr>
      <vt:lpstr>Parser without coroutines </vt:lpstr>
      <vt:lpstr>Parser with coroutines </vt:lpstr>
      <vt:lpstr>Parser with coroutines </vt:lpstr>
      <vt:lpstr>2b. Parser with coroutines </vt:lpstr>
      <vt:lpstr>2b. Parser with coroutines </vt:lpstr>
      <vt:lpstr>3. The Async Work Problem</vt:lpstr>
      <vt:lpstr>PowerPoint Presentation</vt:lpstr>
      <vt:lpstr>Async Work with coroutines</vt:lpstr>
      <vt:lpstr>Async Work with coroutines</vt:lpstr>
      <vt:lpstr>Sneak Preview: Awaitable</vt:lpstr>
      <vt:lpstr>The Reactor Pattern</vt:lpstr>
      <vt:lpstr>4. The Async I/O Problem</vt:lpstr>
      <vt:lpstr>Async I/O demo</vt:lpstr>
      <vt:lpstr>Async I/O with coroutines: Client</vt:lpstr>
      <vt:lpstr>Async I/O with coroutines: Server</vt:lpstr>
      <vt:lpstr>4. The Task composition problem</vt:lpstr>
      <vt:lpstr>Task composition demo</vt:lpstr>
      <vt:lpstr>Task composition with coroutines </vt:lpstr>
      <vt:lpstr>What is a coroutine?</vt:lpstr>
      <vt:lpstr>Coroutines in C++ 20</vt:lpstr>
      <vt:lpstr>The promise_type hooks</vt:lpstr>
      <vt:lpstr>Coroutines in practice</vt:lpstr>
      <vt:lpstr>Common Libraries</vt:lpstr>
      <vt:lpstr>Problems we addressed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Sackstein</dc:creator>
  <cp:lastModifiedBy>David Sackstein</cp:lastModifiedBy>
  <cp:revision>1274</cp:revision>
  <dcterms:created xsi:type="dcterms:W3CDTF">2018-03-26T13:04:32Z</dcterms:created>
  <dcterms:modified xsi:type="dcterms:W3CDTF">2026-07-06T22:05:16Z</dcterms:modified>
</cp:coreProperties>
</file>