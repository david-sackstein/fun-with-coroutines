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475" r:id="rId6"/>
    <p:sldId id="476" r:id="rId7"/>
    <p:sldId id="474" r:id="rId8"/>
    <p:sldId id="259" r:id="rId9"/>
    <p:sldId id="266" r:id="rId10"/>
    <p:sldId id="477" r:id="rId11"/>
    <p:sldId id="479" r:id="rId12"/>
    <p:sldId id="260" r:id="rId13"/>
    <p:sldId id="267" r:id="rId14"/>
    <p:sldId id="478" r:id="rId15"/>
    <p:sldId id="261" r:id="rId16"/>
    <p:sldId id="268" r:id="rId17"/>
    <p:sldId id="480" r:id="rId18"/>
    <p:sldId id="262" r:id="rId19"/>
    <p:sldId id="269" r:id="rId20"/>
    <p:sldId id="263" r:id="rId21"/>
    <p:sldId id="264" r:id="rId22"/>
    <p:sldId id="270" r:id="rId23"/>
    <p:sldId id="273" r:id="rId24"/>
    <p:sldId id="274" r:id="rId25"/>
    <p:sldId id="275" r:id="rId26"/>
    <p:sldId id="277" r:id="rId27"/>
    <p:sldId id="481" r:id="rId28"/>
    <p:sldId id="276" r:id="rId29"/>
    <p:sldId id="279" r:id="rId30"/>
    <p:sldId id="278" r:id="rId31"/>
    <p:sldId id="280" r:id="rId32"/>
    <p:sldId id="281" r:id="rId33"/>
    <p:sldId id="282" r:id="rId34"/>
    <p:sldId id="283" r:id="rId35"/>
    <p:sldId id="473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60" autoAdjust="0"/>
  </p:normalViewPr>
  <p:slideViewPr>
    <p:cSldViewPr>
      <p:cViewPr varScale="1">
        <p:scale>
          <a:sx n="90" d="100"/>
          <a:sy n="90" d="100"/>
        </p:scale>
        <p:origin x="317" y="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6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4CE6AF-D938-7C85-3949-7D2A7663097B}"/>
              </a:ext>
            </a:extLst>
          </p:cNvPr>
          <p:cNvSpPr/>
          <p:nvPr userDrawn="1"/>
        </p:nvSpPr>
        <p:spPr>
          <a:xfrm flipV="1">
            <a:off x="457200" y="1324294"/>
            <a:ext cx="82296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30000">
                <a:srgbClr val="0070C0"/>
              </a:gs>
              <a:gs pos="6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2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5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5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7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3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9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6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3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982D4-381D-4B7B-A1A5-B3B6E72EF21D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1C58-9764-4FBC-AFC2-4E640D57B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Introducing 5 different </a:t>
            </a:r>
            <a:r>
              <a:rPr dirty="0"/>
              <a:t>problems </a:t>
            </a:r>
            <a:r>
              <a:rPr lang="en-US" dirty="0"/>
              <a:t>with complex solutions</a:t>
            </a:r>
          </a:p>
          <a:p>
            <a:pPr lvl="1"/>
            <a:r>
              <a:rPr lang="en-US" dirty="0"/>
              <a:t>Without coroutines</a:t>
            </a:r>
          </a:p>
          <a:p>
            <a:pPr lvl="1"/>
            <a:r>
              <a:rPr lang="en-US" dirty="0"/>
              <a:t>With coroutines</a:t>
            </a:r>
            <a:endParaRPr dirty="0"/>
          </a:p>
          <a:p>
            <a:r>
              <a:rPr lang="en-US" dirty="0"/>
              <a:t>What is a coroutine?</a:t>
            </a:r>
            <a:endParaRPr dirty="0"/>
          </a:p>
          <a:p>
            <a:r>
              <a:rPr dirty="0"/>
              <a:t>How C++ </a:t>
            </a:r>
            <a:r>
              <a:rPr lang="en-US" dirty="0"/>
              <a:t>implements</a:t>
            </a:r>
            <a:r>
              <a:rPr dirty="0"/>
              <a:t> the coroutine pattern</a:t>
            </a:r>
          </a:p>
          <a:p>
            <a:r>
              <a:rPr lang="en-US" dirty="0"/>
              <a:t>Many variations are possible; we will review some common ones.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Overview </a:t>
            </a:r>
            <a:r>
              <a:rPr lang="en-US"/>
              <a:t>of the repo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064CA-E101-3720-80D1-9E725E11E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5 solutions</a:t>
            </a:r>
          </a:p>
          <a:p>
            <a:r>
              <a:rPr lang="en-US" dirty="0">
                <a:solidFill>
                  <a:schemeClr val="accent1"/>
                </a:solidFill>
              </a:rPr>
              <a:t>Without coroutines</a:t>
            </a:r>
          </a:p>
          <a:p>
            <a:r>
              <a:rPr lang="en-US" dirty="0">
                <a:solidFill>
                  <a:schemeClr val="accent1"/>
                </a:solidFill>
              </a:rPr>
              <a:t>With coroutines</a:t>
            </a:r>
          </a:p>
          <a:p>
            <a:r>
              <a:rPr lang="en-US" dirty="0">
                <a:solidFill>
                  <a:schemeClr val="accent1"/>
                </a:solidFill>
              </a:rPr>
              <a:t>Tests for both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2C227-80F2-E84D-13D4-7FDFC8B0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47800"/>
            <a:ext cx="4114800" cy="5302988"/>
          </a:xfrm>
          <a:prstGeom prst="rect">
            <a:avLst/>
          </a:prstGeom>
          <a:ln w="635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1a. </a:t>
            </a:r>
            <a:r>
              <a:rPr dirty="0"/>
              <a:t>Generator</a:t>
            </a:r>
            <a:r>
              <a:rPr lang="en-US" dirty="0"/>
              <a:t>s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Fibonacci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eeds </a:t>
            </a:r>
            <a:r>
              <a:rPr lang="en-US" dirty="0"/>
              <a:t>5 state </a:t>
            </a:r>
            <a:r>
              <a:rPr dirty="0"/>
              <a:t>fields</a:t>
            </a:r>
          </a:p>
          <a:p>
            <a:pPr lvl="1"/>
            <a:r>
              <a:rPr lang="en-US" dirty="0"/>
              <a:t>Manages a hand-written state machine</a:t>
            </a:r>
          </a:p>
          <a:p>
            <a:r>
              <a:rPr dirty="0"/>
              <a:t>Tree DFS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eeds stack, backtracking, and phases</a:t>
            </a:r>
            <a:endParaRPr lang="en-US" dirty="0"/>
          </a:p>
          <a:p>
            <a:pPr lvl="1"/>
            <a:r>
              <a:rPr lang="en-US" dirty="0"/>
              <a:t>Code is non-intuitive</a:t>
            </a:r>
            <a:endParaRPr dirty="0"/>
          </a:p>
          <a:p>
            <a:r>
              <a:rPr lang="en-US" dirty="0"/>
              <a:t>Note that for convenience, they can both be wrapped in a C++ iterator (</a:t>
            </a:r>
            <a:r>
              <a:rPr lang="en-US" dirty="0" err="1"/>
              <a:t>GeneratorIterator</a:t>
            </a:r>
            <a:r>
              <a:rPr lang="en-US" dirty="0"/>
              <a:t>)</a:t>
            </a:r>
            <a:endParaRPr dirty="0"/>
          </a:p>
          <a:p>
            <a:r>
              <a:rPr dirty="0">
                <a:solidFill>
                  <a:srgbClr val="0070C0"/>
                </a:solidFill>
              </a:rPr>
              <a:t>Lesson: </a:t>
            </a:r>
            <a:r>
              <a:rPr lang="en-US" dirty="0">
                <a:solidFill>
                  <a:srgbClr val="0070C0"/>
                </a:solidFill>
              </a:rPr>
              <a:t>L</a:t>
            </a:r>
            <a:r>
              <a:rPr dirty="0">
                <a:solidFill>
                  <a:srgbClr val="0070C0"/>
                </a:solidFill>
              </a:rPr>
              <a:t>azy iteration hides real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1b. Fibonacci with coroutines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690C4-5CF6-AA5A-EE46-E72705CBD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391400" cy="4567044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E0DA1-30B5-9A4A-D207-B8100485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586E-DFF7-91EC-D30E-3511B35D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1b. Tree iteration with coroutines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D5821-0407-BC16-B6F8-7312ED80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6096000" cy="4930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8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C2121-FDC6-A2D1-78C4-B1BB5FCC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7782-BE6E-C4AC-1116-23B8F872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1b. Tree iteration with coroutines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A3CDA-11B8-9173-58B9-644854EE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7168705" cy="48767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522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A93A-7ADD-F0F9-0EC2-9B57D023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6E85-F145-D2E9-19B4-46540F37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protocol for parser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CBCA7-A865-FCBB-2197-F451AF8E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Line-oriented key/value protocol with two commands:</a:t>
            </a:r>
          </a:p>
          <a:p>
            <a:r>
              <a:rPr lang="en-US" dirty="0"/>
              <a:t>Store a pair:</a:t>
            </a:r>
          </a:p>
          <a:p>
            <a:pPr marL="400050" lvl="2" indent="0"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SET &lt;key&gt; &lt;value&gt;</a:t>
            </a:r>
          </a:p>
          <a:p>
            <a:r>
              <a:rPr lang="en-US" dirty="0"/>
              <a:t>Print the value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GET &lt;key&gt;</a:t>
            </a:r>
          </a:p>
          <a:p>
            <a:r>
              <a:rPr lang="en-US" dirty="0"/>
              <a:t>Example (parser::</a:t>
            </a:r>
            <a:r>
              <a:rPr lang="en-US" dirty="0" err="1"/>
              <a:t>script_lines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SET name Alice  -&gt;  OK</a:t>
            </a:r>
            <a:b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GET name        -&gt;  Alice</a:t>
            </a:r>
            <a:b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SET age 30      -&gt;  OK</a:t>
            </a:r>
            <a:b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3000" dirty="0">
                <a:solidFill>
                  <a:srgbClr val="0070C0"/>
                </a:solidFill>
                <a:latin typeface="Consolas" panose="020B0609020204030204" pitchFamily="49" charset="0"/>
              </a:rPr>
              <a:t>GET age         -&gt;  30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551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2a. Parser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 protocol arrives in arbitrary chunk sizes</a:t>
            </a:r>
          </a:p>
          <a:p>
            <a:r>
              <a:rPr dirty="0"/>
              <a:t>Parser must buffer, split, and resume parsing</a:t>
            </a:r>
          </a:p>
          <a:p>
            <a:r>
              <a:rPr dirty="0"/>
              <a:t>Callback </a:t>
            </a:r>
            <a:r>
              <a:rPr lang="en-US" dirty="0"/>
              <a:t>requires</a:t>
            </a:r>
            <a:r>
              <a:rPr dirty="0"/>
              <a:t> switches and offset tracking</a:t>
            </a:r>
          </a:p>
          <a:p>
            <a:r>
              <a:rPr dirty="0"/>
              <a:t>Each partial read </a:t>
            </a:r>
            <a:r>
              <a:rPr lang="en-US" dirty="0"/>
              <a:t>updates </a:t>
            </a:r>
            <a:r>
              <a:rPr dirty="0"/>
              <a:t>continuation logic</a:t>
            </a:r>
          </a:p>
          <a:p>
            <a:r>
              <a:rPr dirty="0">
                <a:solidFill>
                  <a:srgbClr val="0070C0"/>
                </a:solidFill>
              </a:rPr>
              <a:t>Lesson: streaming is a reentrance problem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Parser with coroutines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4791E-4D26-8B27-C129-5CF2944D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3" y="1451505"/>
            <a:ext cx="8466667" cy="494631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628D2-02AA-D4BA-2DE6-251F92E3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B8DE-50DC-C7BA-0B1F-EF987477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Parser with coroutines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82DFB-5E97-F883-08EF-7AE783135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47" y="274638"/>
            <a:ext cx="8396053" cy="63168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73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EE15-1A4F-0ED7-AFE7-A4FF60F9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9313-D2B0-9DEE-00E2-132F08883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2b. Parser with coroutines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9ED1A-E290-B3A5-4E9F-72580672B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57200"/>
            <a:ext cx="8517941" cy="4800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9815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3a. </a:t>
            </a:r>
            <a:r>
              <a:rPr dirty="0"/>
              <a:t>Async Task</a:t>
            </a:r>
            <a:r>
              <a:rPr lang="en-US" dirty="0"/>
              <a:t> without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Three steps with one-second delays between them</a:t>
            </a:r>
          </a:p>
          <a:p>
            <a:r>
              <a:rPr dirty="0"/>
              <a:t>Callbacks nest </a:t>
            </a:r>
            <a:r>
              <a:rPr lang="en-US" dirty="0"/>
              <a:t>-</a:t>
            </a:r>
            <a:r>
              <a:rPr dirty="0"/>
              <a:t> pyramid shape, hard to read</a:t>
            </a:r>
          </a:p>
          <a:p>
            <a:r>
              <a:rPr dirty="0"/>
              <a:t>Each step needs a lambda and a continuation</a:t>
            </a:r>
          </a:p>
          <a:p>
            <a:r>
              <a:rPr dirty="0"/>
              <a:t>Unmarshalled path resumes on the worker thread</a:t>
            </a:r>
          </a:p>
          <a:p>
            <a:r>
              <a:rPr dirty="0"/>
              <a:t>Lesson: async composition fights linear thinking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3b. Async Task with coroutines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62FBC-B006-6DB1-69A1-B9422816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7543800" cy="497618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EE1A-A8E2-4BCA-8B64-35CC21D1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5B0E-D319-3E60-826D-3F1E0DF4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3b. Async Task with coroutines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DD34C0-75E1-1A01-5308-FBD16F23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6172199" cy="51806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2948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4a. Async I/O without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Calculator client reads and writes on pipes</a:t>
            </a:r>
          </a:p>
          <a:p>
            <a:r>
              <a:rPr dirty="0"/>
              <a:t>Non-blocking I/O means EAGAIN and partial transfers</a:t>
            </a:r>
          </a:p>
          <a:p>
            <a:r>
              <a:rPr dirty="0"/>
              <a:t>Handlers chain: </a:t>
            </a:r>
            <a:r>
              <a:rPr dirty="0" err="1"/>
              <a:t>on_read</a:t>
            </a:r>
            <a:r>
              <a:rPr dirty="0"/>
              <a:t>, </a:t>
            </a:r>
            <a:r>
              <a:rPr dirty="0" err="1"/>
              <a:t>on_write</a:t>
            </a:r>
            <a:r>
              <a:rPr dirty="0"/>
              <a:t>, </a:t>
            </a:r>
            <a:r>
              <a:rPr dirty="0" err="1"/>
              <a:t>on_complete</a:t>
            </a:r>
            <a:endParaRPr dirty="0"/>
          </a:p>
          <a:p>
            <a:r>
              <a:rPr dirty="0" err="1"/>
              <a:t>shared_ptr</a:t>
            </a:r>
            <a:r>
              <a:rPr dirty="0"/>
              <a:t> offsets and self-recursive std::function</a:t>
            </a:r>
          </a:p>
          <a:p>
            <a:r>
              <a:rPr dirty="0"/>
              <a:t>Lesson: reactor code becomes a state machine explosion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4b. Async I/O with coroutines</a:t>
            </a:r>
            <a:r>
              <a:rPr lang="en-US"/>
              <a:t>: Client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5C6A6-6112-E733-9E74-DADEAE0B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17638"/>
            <a:ext cx="7906435" cy="5246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AD5E-A105-E94B-BB1E-173C23C7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D510-1F0A-265F-7BF3-6E97930B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4b. Async I/O with coroutines: Server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75A17-6A8F-6B4C-DFB6-86704BCDA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17638"/>
            <a:ext cx="8755872" cy="43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68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5a. Aggregation without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Parse store, sum ages, return an integer result</a:t>
            </a:r>
          </a:p>
          <a:p>
            <a:r>
              <a:t>Multiple async hops must compose into one value</a:t>
            </a:r>
          </a:p>
          <a:p>
            <a:r>
              <a:t>Callback version threads state through each layer</a:t>
            </a:r>
          </a:p>
          <a:p>
            <a:r>
              <a:t>Batch paths duplicate the same wiring pattern</a:t>
            </a:r>
          </a:p>
          <a:p>
            <a:r>
              <a:t>Lesson: returning values multiplies callback pain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5b. Aggregation with coroutines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co_return</a:t>
            </a:r>
            <a:r>
              <a:rPr dirty="0"/>
              <a:t> delivers the final integer sum</a:t>
            </a:r>
          </a:p>
          <a:p>
            <a:r>
              <a:rPr dirty="0"/>
              <a:t>Task&lt;int&gt; holds lazy start and final value</a:t>
            </a:r>
          </a:p>
          <a:p>
            <a:r>
              <a:rPr dirty="0"/>
              <a:t>Async aggregate composes without callback threading</a:t>
            </a:r>
          </a:p>
          <a:p>
            <a:r>
              <a:rPr dirty="0"/>
              <a:t>Batch calculator reuses the same Task pattern</a:t>
            </a:r>
          </a:p>
          <a:p>
            <a:r>
              <a:rPr dirty="0"/>
              <a:t>Return type: Task </a:t>
            </a:r>
            <a:r>
              <a:rPr lang="en-US" dirty="0"/>
              <a:t>-</a:t>
            </a:r>
            <a:r>
              <a:rPr dirty="0"/>
              <a:t> always / always plus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Five different application shapes</a:t>
            </a:r>
          </a:p>
          <a:p>
            <a:r>
              <a:rPr dirty="0"/>
              <a:t>Same underlying difficulty: leave and return</a:t>
            </a:r>
          </a:p>
          <a:p>
            <a:r>
              <a:rPr dirty="0"/>
              <a:t>State scattered across classes, </a:t>
            </a:r>
            <a:r>
              <a:rPr dirty="0" err="1"/>
              <a:t>enums</a:t>
            </a:r>
            <a:r>
              <a:rPr dirty="0"/>
              <a:t>, lambdas</a:t>
            </a:r>
          </a:p>
          <a:p>
            <a:r>
              <a:rPr dirty="0"/>
              <a:t>Line count and bug surface grow quickly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Same five demos </a:t>
            </a:r>
            <a:r>
              <a:rPr lang="en-US" dirty="0"/>
              <a:t>-</a:t>
            </a:r>
            <a:r>
              <a:rPr dirty="0"/>
              <a:t> coroutines/ tree only now</a:t>
            </a:r>
          </a:p>
          <a:p>
            <a:r>
              <a:rPr dirty="0"/>
              <a:t>Read like sequential code </a:t>
            </a:r>
            <a:r>
              <a:rPr lang="en-US" dirty="0"/>
              <a:t>-</a:t>
            </a:r>
            <a:r>
              <a:rPr dirty="0"/>
              <a:t> flat control flow</a:t>
            </a:r>
          </a:p>
          <a:p>
            <a:r>
              <a:rPr dirty="0"/>
              <a:t>Tests still pass </a:t>
            </a:r>
            <a:r>
              <a:rPr lang="en-US" dirty="0"/>
              <a:t>-</a:t>
            </a:r>
            <a:r>
              <a:rPr dirty="0"/>
              <a:t> behavior unchanged</a:t>
            </a:r>
          </a:p>
          <a:p>
            <a:r>
              <a:rPr dirty="0"/>
              <a:t>Improvement is structure, not magic runtime</a:t>
            </a:r>
          </a:p>
          <a:p>
            <a:r>
              <a:rPr dirty="0"/>
              <a:t>Now we may name what changed</a:t>
            </a:r>
            <a:endParaRPr lang="en-US" dirty="0"/>
          </a:p>
          <a:p>
            <a:r>
              <a:rPr lang="en-US" dirty="0"/>
              <a:t>We have not mentioned coroutines yet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coroutines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Same reactor, event loop, and pipe infrastructure</a:t>
            </a:r>
          </a:p>
          <a:p>
            <a:r>
              <a:rPr dirty="0"/>
              <a:t>Coroutines integrate </a:t>
            </a:r>
            <a:r>
              <a:rPr lang="en-US" dirty="0"/>
              <a:t>-</a:t>
            </a:r>
            <a:r>
              <a:rPr dirty="0"/>
              <a:t> they do not replace your stack</a:t>
            </a:r>
          </a:p>
          <a:p>
            <a:r>
              <a:rPr dirty="0"/>
              <a:t>Improvement comes from compiler-managed frames</a:t>
            </a:r>
          </a:p>
          <a:p>
            <a:r>
              <a:rPr dirty="0"/>
              <a:t>Every solution still suspends and resumes somehow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C++ Encapsulates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C++20 adds three keywords</a:t>
            </a:r>
            <a:endParaRPr lang="en-US" dirty="0"/>
          </a:p>
          <a:p>
            <a:r>
              <a:rPr lang="en-US" dirty="0"/>
              <a:t>One language feature - many application shapes</a:t>
            </a:r>
          </a:p>
          <a:p>
            <a:r>
              <a:rPr dirty="0"/>
              <a:t>Compiler </a:t>
            </a:r>
            <a:r>
              <a:rPr lang="en-US" dirty="0"/>
              <a:t>creates </a:t>
            </a:r>
            <a:r>
              <a:rPr dirty="0"/>
              <a:t>a coroutine frame</a:t>
            </a:r>
          </a:p>
          <a:p>
            <a:r>
              <a:rPr dirty="0" err="1"/>
              <a:t>promise_type</a:t>
            </a:r>
            <a:r>
              <a:rPr dirty="0"/>
              <a:t> defines </a:t>
            </a:r>
            <a:r>
              <a:rPr lang="en-US" dirty="0"/>
              <a:t>the </a:t>
            </a:r>
            <a:r>
              <a:rPr dirty="0"/>
              <a:t>suspend policy </a:t>
            </a:r>
            <a:r>
              <a:rPr lang="en-US" dirty="0"/>
              <a:t>using </a:t>
            </a:r>
            <a:r>
              <a:rPr dirty="0"/>
              <a:t>hooks</a:t>
            </a:r>
          </a:p>
          <a:p>
            <a:r>
              <a:rPr dirty="0"/>
              <a:t>Return object wraps </a:t>
            </a:r>
            <a:r>
              <a:rPr dirty="0" err="1"/>
              <a:t>coroutine_handle</a:t>
            </a:r>
            <a:r>
              <a:rPr dirty="0"/>
              <a:t> for callers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Four Players </a:t>
            </a:r>
            <a:r>
              <a:rPr lang="en-US" dirty="0"/>
              <a:t>-</a:t>
            </a:r>
            <a:r>
              <a:rPr dirty="0"/>
              <a:t> One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Caller drives resume, next, start, or destroy</a:t>
            </a:r>
          </a:p>
          <a:p>
            <a:r>
              <a:t>Return object bridges caller and coroutine frame</a:t>
            </a:r>
          </a:p>
          <a:p>
            <a:r>
              <a:t>Frame stores locals and the current suspend point</a:t>
            </a:r>
          </a:p>
          <a:p>
            <a:r>
              <a:t>Awaitable completes async work and resumes frame</a:t>
            </a:r>
          </a:p>
          <a:p>
            <a:r>
              <a:t>Same diagram fits every demo in this repo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Reentrance </a:t>
            </a:r>
            <a:r>
              <a:rPr lang="en-US" dirty="0"/>
              <a:t>-</a:t>
            </a:r>
            <a:r>
              <a:rPr dirty="0"/>
              <a:t> Compare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dirty="0"/>
              <a:t>Generator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48272"/>
            <a:ext cx="467403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lazy </a:t>
            </a:r>
            <a:r>
              <a:rPr lang="en-US" sz="1800" dirty="0"/>
              <a:t>-</a:t>
            </a:r>
            <a:r>
              <a:rPr sz="1800" dirty="0"/>
              <a:t> Caller gets Ret first</a:t>
            </a:r>
          </a:p>
          <a:p>
            <a:r>
              <a:rPr sz="1800" dirty="0"/>
              <a:t>• REENTRANCE: Caller resumes at each </a:t>
            </a:r>
            <a:r>
              <a:rPr sz="1800" dirty="0" err="1"/>
              <a:t>co_yield</a:t>
            </a:r>
            <a:endParaRPr sz="1800" dirty="0"/>
          </a:p>
          <a:p>
            <a:r>
              <a:rPr sz="1800" dirty="0"/>
              <a:t>• EXIT: frame kept until ~Generator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4E98BE-00E7-5190-31FF-B8148AE75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33" y="11430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EB02B-4D45-EB37-0374-5A2CCF59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C7B4-A433-34AF-741E-B025E925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ResumableCoroutine</a:t>
            </a:r>
            <a:r>
              <a:rPr dirty="0"/>
              <a:t>&lt;T&gt;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82E32-F2DC-8A19-5119-73DC81D4FC38}"/>
              </a:ext>
            </a:extLst>
          </p:cNvPr>
          <p:cNvSpPr txBox="1"/>
          <p:nvPr/>
        </p:nvSpPr>
        <p:spPr>
          <a:xfrm>
            <a:off x="274320" y="6748272"/>
            <a:ext cx="486408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lazy </a:t>
            </a:r>
            <a:r>
              <a:rPr lang="en-US" sz="1800" dirty="0"/>
              <a:t>-</a:t>
            </a:r>
            <a:r>
              <a:rPr sz="1800" dirty="0"/>
              <a:t> same as Generator</a:t>
            </a:r>
          </a:p>
          <a:p>
            <a:r>
              <a:rPr sz="1800" dirty="0"/>
              <a:t>• REENTRANCE: Caller starts; loop resumes awaits</a:t>
            </a:r>
          </a:p>
          <a:p>
            <a:r>
              <a:rPr sz="1800" dirty="0"/>
              <a:t>• EXIT: </a:t>
            </a:r>
            <a:r>
              <a:rPr sz="1800" dirty="0" err="1"/>
              <a:t>co_return</a:t>
            </a:r>
            <a:r>
              <a:rPr sz="1800" dirty="0"/>
              <a:t> value; get() reads result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F64AB1-65E1-F455-675A-C0627727B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33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dirty="0" err="1"/>
              <a:t>NeverSuspendCoroutine</a:t>
            </a:r>
            <a:r>
              <a:rPr dirty="0"/>
              <a:t>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48272"/>
            <a:ext cx="470442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eager </a:t>
            </a:r>
            <a:r>
              <a:rPr lang="en-US" sz="1800" dirty="0"/>
              <a:t>-</a:t>
            </a:r>
            <a:r>
              <a:rPr sz="1800" dirty="0"/>
              <a:t> body runs on invoke</a:t>
            </a:r>
          </a:p>
          <a:p>
            <a:r>
              <a:rPr sz="1800" dirty="0"/>
              <a:t>• REENTRANCE: await resumes frame in Demo 3</a:t>
            </a:r>
          </a:p>
          <a:p>
            <a:r>
              <a:rPr sz="1800" dirty="0"/>
              <a:t>• EXIT: frame destroyed at </a:t>
            </a:r>
            <a:r>
              <a:rPr sz="1800" dirty="0" err="1"/>
              <a:t>co_return</a:t>
            </a:r>
            <a:endParaRPr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5CC386-FC74-B5EB-7CEE-E5635F0E5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dirty="0" err="1"/>
              <a:t>FinalSuspendCoroutine</a:t>
            </a:r>
            <a:r>
              <a:rPr dirty="0"/>
              <a:t>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48272"/>
            <a:ext cx="46426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eager </a:t>
            </a:r>
            <a:r>
              <a:rPr lang="en-US" sz="1800" dirty="0"/>
              <a:t>-</a:t>
            </a:r>
            <a:r>
              <a:rPr sz="1800" dirty="0"/>
              <a:t> like </a:t>
            </a:r>
            <a:r>
              <a:rPr sz="1800" dirty="0" err="1"/>
              <a:t>NeverSuspend</a:t>
            </a:r>
            <a:endParaRPr sz="1800" dirty="0"/>
          </a:p>
          <a:p>
            <a:r>
              <a:rPr sz="1800" dirty="0"/>
              <a:t>• REENTRANCE: reactor resumes each </a:t>
            </a:r>
            <a:r>
              <a:rPr sz="1800" dirty="0" err="1"/>
              <a:t>co_await</a:t>
            </a:r>
            <a:endParaRPr sz="1800" dirty="0"/>
          </a:p>
          <a:p>
            <a:r>
              <a:rPr sz="1800" dirty="0"/>
              <a:t>• EXIT: frame kept </a:t>
            </a:r>
            <a:r>
              <a:rPr lang="en-US" sz="1800" dirty="0"/>
              <a:t>-</a:t>
            </a:r>
            <a:r>
              <a:rPr sz="1800" dirty="0"/>
              <a:t> unlike </a:t>
            </a:r>
            <a:r>
              <a:rPr sz="1800" dirty="0" err="1"/>
              <a:t>NeverSuspend</a:t>
            </a:r>
            <a:endParaRPr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225344-7B09-DE22-512F-40A57F5A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5455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dirty="0"/>
              <a:t>Task&lt;T&gt;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48272"/>
            <a:ext cx="486408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ENTRANCE: lazy </a:t>
            </a:r>
            <a:r>
              <a:rPr lang="en-US" sz="1800" dirty="0"/>
              <a:t>-</a:t>
            </a:r>
            <a:r>
              <a:rPr sz="1800" dirty="0"/>
              <a:t> same as Generator</a:t>
            </a:r>
          </a:p>
          <a:p>
            <a:r>
              <a:rPr sz="1800" dirty="0"/>
              <a:t>• REENTRANCE: Caller starts; loop resumes awaits</a:t>
            </a:r>
          </a:p>
          <a:p>
            <a:r>
              <a:rPr sz="1800" dirty="0"/>
              <a:t>• EXIT: </a:t>
            </a:r>
            <a:r>
              <a:rPr sz="1800" dirty="0" err="1"/>
              <a:t>co_return</a:t>
            </a:r>
            <a:r>
              <a:rPr sz="1800" dirty="0"/>
              <a:t> value; get() reads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80E90F-71E4-4B0E-2A27-E5453B418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067800" cy="56673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Reentrance </a:t>
            </a:r>
            <a:r>
              <a:rPr lang="en-US" dirty="0"/>
              <a:t>-</a:t>
            </a:r>
            <a:r>
              <a:rPr dirty="0"/>
              <a:t> What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Entrance: lazy always versus eager never</a:t>
            </a:r>
          </a:p>
          <a:p>
            <a:r>
              <a:rPr dirty="0"/>
              <a:t>Reentrance: Caller, </a:t>
            </a:r>
            <a:r>
              <a:rPr dirty="0" err="1"/>
              <a:t>awaitable</a:t>
            </a:r>
            <a:r>
              <a:rPr dirty="0"/>
              <a:t>, or reactor resumes</a:t>
            </a:r>
          </a:p>
          <a:p>
            <a:r>
              <a:rPr dirty="0"/>
              <a:t>Exit: destroy immediately versus keep frame</a:t>
            </a:r>
          </a:p>
          <a:p>
            <a:r>
              <a:rPr dirty="0"/>
              <a:t>Demos 3 and 4: same entrance, different exit</a:t>
            </a:r>
          </a:p>
          <a:p>
            <a:r>
              <a:rPr dirty="0"/>
              <a:t>One pattern </a:t>
            </a:r>
            <a:r>
              <a:rPr lang="en-US" dirty="0"/>
              <a:t>-</a:t>
            </a:r>
            <a:r>
              <a:rPr dirty="0"/>
              <a:t> three policy knobs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Return Types </a:t>
            </a:r>
            <a:r>
              <a:rPr lang="en-US" dirty="0"/>
              <a:t>-</a:t>
            </a:r>
            <a:r>
              <a:rPr dirty="0"/>
              <a:t> The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NeverSuspendCoroutine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never enter, never pause at end</a:t>
            </a:r>
          </a:p>
          <a:p>
            <a:r>
              <a:rPr dirty="0"/>
              <a:t>Generator </a:t>
            </a:r>
            <a:r>
              <a:rPr lang="en-US" dirty="0"/>
              <a:t>-</a:t>
            </a:r>
            <a:r>
              <a:rPr dirty="0"/>
              <a:t> lazy enter, </a:t>
            </a:r>
            <a:r>
              <a:rPr dirty="0" err="1"/>
              <a:t>co_yield</a:t>
            </a:r>
            <a:r>
              <a:rPr dirty="0"/>
              <a:t>, lazy final suspend</a:t>
            </a:r>
          </a:p>
          <a:p>
            <a:r>
              <a:rPr dirty="0"/>
              <a:t>Task&lt;T&gt; </a:t>
            </a:r>
            <a:r>
              <a:rPr lang="en-US" dirty="0"/>
              <a:t>-</a:t>
            </a:r>
            <a:r>
              <a:rPr dirty="0"/>
              <a:t> lazy enter, </a:t>
            </a:r>
            <a:r>
              <a:rPr dirty="0" err="1"/>
              <a:t>co_return</a:t>
            </a:r>
            <a:r>
              <a:rPr dirty="0"/>
              <a:t> value, lazy end</a:t>
            </a:r>
          </a:p>
          <a:p>
            <a:r>
              <a:rPr dirty="0" err="1"/>
              <a:t>FinalSuspendCoroutine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eager enter, repeated </a:t>
            </a:r>
            <a:r>
              <a:rPr dirty="0" err="1"/>
              <a:t>co_await</a:t>
            </a:r>
            <a:endParaRPr dirty="0"/>
          </a:p>
          <a:p>
            <a:r>
              <a:rPr dirty="0"/>
              <a:t>All four: </a:t>
            </a:r>
            <a:r>
              <a:rPr dirty="0" err="1"/>
              <a:t>promise_type</a:t>
            </a:r>
            <a:r>
              <a:rPr dirty="0"/>
              <a:t> hooks differ, pattern same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To Return Type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Demo 1 Generator </a:t>
            </a:r>
            <a:r>
              <a:rPr lang="en-US" dirty="0"/>
              <a:t>-</a:t>
            </a:r>
            <a:r>
              <a:rPr dirty="0"/>
              <a:t> yield-driven lazy iteration</a:t>
            </a:r>
          </a:p>
          <a:p>
            <a:r>
              <a:rPr dirty="0"/>
              <a:t>Demo 2 Parser </a:t>
            </a:r>
            <a:r>
              <a:rPr lang="en-US" dirty="0"/>
              <a:t>-</a:t>
            </a:r>
            <a:r>
              <a:rPr dirty="0"/>
              <a:t> run-through, no mid-body suspend</a:t>
            </a:r>
          </a:p>
          <a:p>
            <a:r>
              <a:rPr dirty="0"/>
              <a:t>Demo 3 Async tasks </a:t>
            </a:r>
            <a:r>
              <a:rPr lang="en-US" dirty="0"/>
              <a:t>-</a:t>
            </a:r>
            <a:r>
              <a:rPr dirty="0"/>
              <a:t> void eager fire-and-forget</a:t>
            </a:r>
          </a:p>
          <a:p>
            <a:r>
              <a:rPr dirty="0"/>
              <a:t>Demo 4 Async I/O </a:t>
            </a:r>
            <a:r>
              <a:rPr lang="en-US" dirty="0"/>
              <a:t>-</a:t>
            </a:r>
            <a:r>
              <a:rPr dirty="0"/>
              <a:t> eager start, many await suspends</a:t>
            </a:r>
          </a:p>
          <a:p>
            <a:r>
              <a:rPr dirty="0"/>
              <a:t>Demo 5 Aggregation </a:t>
            </a:r>
            <a:r>
              <a:rPr lang="en-US" dirty="0"/>
              <a:t>-</a:t>
            </a:r>
            <a:r>
              <a:rPr dirty="0"/>
              <a:t> lazy Task with </a:t>
            </a:r>
            <a:r>
              <a:rPr dirty="0" err="1"/>
              <a:t>co_return</a:t>
            </a:r>
            <a:r>
              <a:rPr dirty="0"/>
              <a:t> value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Entrance And Reentrance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never / never </a:t>
            </a:r>
            <a:r>
              <a:rPr lang="en-US" dirty="0"/>
              <a:t>-</a:t>
            </a:r>
            <a:r>
              <a:rPr dirty="0"/>
              <a:t> body runs, frame dies immediately</a:t>
            </a:r>
          </a:p>
          <a:p>
            <a:r>
              <a:rPr dirty="0"/>
              <a:t>always / always </a:t>
            </a:r>
            <a:r>
              <a:rPr lang="en-US" dirty="0"/>
              <a:t>-</a:t>
            </a:r>
            <a:r>
              <a:rPr dirty="0"/>
              <a:t> caller must start; frame survives end</a:t>
            </a:r>
          </a:p>
          <a:p>
            <a:r>
              <a:rPr dirty="0"/>
              <a:t>never / always </a:t>
            </a:r>
            <a:r>
              <a:rPr lang="en-US" dirty="0"/>
              <a:t>-</a:t>
            </a:r>
            <a:r>
              <a:rPr dirty="0"/>
              <a:t> starts at call; survives for more awaits</a:t>
            </a:r>
          </a:p>
          <a:p>
            <a:r>
              <a:rPr dirty="0" err="1"/>
              <a:t>yield_value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reenter to produce next element</a:t>
            </a:r>
          </a:p>
          <a:p>
            <a:r>
              <a:rPr dirty="0" err="1"/>
              <a:t>return_value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reenter later to read final result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AC48-FB2D-B87F-AF46-FBC899DC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F0FB-FB6D-3B26-7191-85BCD1CA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E1D75E1-DE84-FCB3-B0E4-7FA7DB471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804968"/>
              </p:ext>
            </p:extLst>
          </p:nvPr>
        </p:nvGraphicFramePr>
        <p:xfrm>
          <a:off x="457200" y="1600200"/>
          <a:ext cx="8229600" cy="4480560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8288825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51234779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</a:rPr>
                        <a:t>Coroutine</a:t>
                      </a:r>
                      <a:endParaRPr lang="en-US" sz="2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A method that can be reentered many times</a:t>
                      </a:r>
                      <a:endParaRPr lang="en-US" sz="20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3024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</a:rPr>
                        <a:t>Requires C++20</a:t>
                      </a:r>
                      <a:endParaRPr lang="en-US" sz="2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More library support is added in C++23</a:t>
                      </a:r>
                      <a:endParaRPr lang="en-US" sz="20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42075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Write your own?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Usually no, you will use libraries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59405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No thread, stack allocation. Just a small heap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2632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6401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0955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874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49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1070</Words>
  <Application>Microsoft Office PowerPoint</Application>
  <PresentationFormat>On-screen Show (4:3)</PresentationFormat>
  <Paragraphs>151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Agenda</vt:lpstr>
      <vt:lpstr>Overview of the repo</vt:lpstr>
      <vt:lpstr>1a. Generators without coroutines </vt:lpstr>
      <vt:lpstr>1b. Fibonacci with coroutines </vt:lpstr>
      <vt:lpstr>1b. Tree iteration with coroutines </vt:lpstr>
      <vt:lpstr>1b. Tree iteration with coroutines </vt:lpstr>
      <vt:lpstr>Line protocol for parser</vt:lpstr>
      <vt:lpstr>2a. Parser without coroutines </vt:lpstr>
      <vt:lpstr>2b. Parser with coroutines </vt:lpstr>
      <vt:lpstr>2b. Parser with coroutines </vt:lpstr>
      <vt:lpstr>2b. Parser with coroutines </vt:lpstr>
      <vt:lpstr>3a. Async Task without coroutines</vt:lpstr>
      <vt:lpstr>3b. Async Task with coroutines</vt:lpstr>
      <vt:lpstr>3b. Async Task with coroutines</vt:lpstr>
      <vt:lpstr>4a. Async I/O without coroutines</vt:lpstr>
      <vt:lpstr>4b. Async I/O with coroutines: Client</vt:lpstr>
      <vt:lpstr>4b. Async I/O with coroutines: Server</vt:lpstr>
      <vt:lpstr>5a. Aggregation without coroutines </vt:lpstr>
      <vt:lpstr>5b. Aggregation with coroutines </vt:lpstr>
      <vt:lpstr>Without coroutines</vt:lpstr>
      <vt:lpstr>With coroutines</vt:lpstr>
      <vt:lpstr>With coroutines</vt:lpstr>
      <vt:lpstr>How C++ Encapsulates It</vt:lpstr>
      <vt:lpstr>Four Players - One Diagram</vt:lpstr>
      <vt:lpstr>Reentrance - Compare Flows</vt:lpstr>
      <vt:lpstr>1. Generator Flow</vt:lpstr>
      <vt:lpstr>2. ResumableCoroutine&lt;T&gt;</vt:lpstr>
      <vt:lpstr>3. NeverSuspendCoroutine Flow</vt:lpstr>
      <vt:lpstr>4. FinalSuspendCoroutine Flow</vt:lpstr>
      <vt:lpstr>5. Task&lt;T&gt; Flow</vt:lpstr>
      <vt:lpstr>Reentrance - What Changes</vt:lpstr>
      <vt:lpstr>Return Types - The Table</vt:lpstr>
      <vt:lpstr>Demo To Return Type Map</vt:lpstr>
      <vt:lpstr>Entrance And Reentrance Patterns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Sackstein</dc:creator>
  <cp:lastModifiedBy>David Sackstein</cp:lastModifiedBy>
  <cp:revision>799</cp:revision>
  <dcterms:created xsi:type="dcterms:W3CDTF">2018-03-26T13:04:32Z</dcterms:created>
  <dcterms:modified xsi:type="dcterms:W3CDTF">2026-07-06T01:30:51Z</dcterms:modified>
</cp:coreProperties>
</file>